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wdp" ContentType="image/vnd.ms-photo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5"/>
  </p:notesMasterIdLst>
  <p:sldIdLst>
    <p:sldId id="256" r:id="rId5"/>
    <p:sldId id="257" r:id="rId6"/>
    <p:sldId id="258" r:id="rId7"/>
    <p:sldId id="259" r:id="rId8"/>
    <p:sldId id="260" r:id="rId9"/>
    <p:sldId id="278" r:id="rId10"/>
    <p:sldId id="274" r:id="rId11"/>
    <p:sldId id="275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/>
  <p:notesSz cx="6858000" cy="1857375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B49"/>
    <a:srgbClr val="E76F39"/>
    <a:srgbClr val="0072C3"/>
    <a:srgbClr val="007D79"/>
    <a:srgbClr val="D02670"/>
    <a:srgbClr val="231F20"/>
    <a:srgbClr val="33B1FF"/>
    <a:srgbClr val="262626"/>
    <a:srgbClr val="525252"/>
    <a:srgbClr val="BE9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13" autoAdjust="0"/>
    <p:restoredTop sz="91480" autoAdjust="0"/>
  </p:normalViewPr>
  <p:slideViewPr>
    <p:cSldViewPr snapToGrid="0">
      <p:cViewPr varScale="1">
        <p:scale>
          <a:sx n="64" d="100"/>
          <a:sy n="64" d="100"/>
        </p:scale>
        <p:origin x="48" y="990"/>
      </p:cViewPr>
      <p:guideLst>
        <p:guide orient="horz" pos="74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6.png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Relationship Id="rId14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377BDD-6725-68B2-639C-E47C9B4601F2}"/>
              </a:ext>
            </a:extLst>
          </p:cNvPr>
          <p:cNvSpPr/>
          <p:nvPr userDrawn="1"/>
        </p:nvSpPr>
        <p:spPr>
          <a:xfrm>
            <a:off x="12625444" y="2728308"/>
            <a:ext cx="1235879" cy="1235878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71CE0-19C9-5FCF-1B71-ACF36DEE6664}"/>
              </a:ext>
            </a:extLst>
          </p:cNvPr>
          <p:cNvSpPr/>
          <p:nvPr userDrawn="1"/>
        </p:nvSpPr>
        <p:spPr>
          <a:xfrm>
            <a:off x="18071881" y="2728308"/>
            <a:ext cx="1235879" cy="1235878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A3F44-3AAC-9557-E214-F323108F6B65}"/>
              </a:ext>
            </a:extLst>
          </p:cNvPr>
          <p:cNvSpPr/>
          <p:nvPr userDrawn="1"/>
        </p:nvSpPr>
        <p:spPr>
          <a:xfrm>
            <a:off x="14440923" y="2728308"/>
            <a:ext cx="1235879" cy="1235878"/>
          </a:xfrm>
          <a:prstGeom prst="rect">
            <a:avLst/>
          </a:prstGeom>
          <a:solidFill>
            <a:srgbClr val="FF7EB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#FF7EB6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EA0613-E945-E437-C733-F9F008F63B76}"/>
              </a:ext>
            </a:extLst>
          </p:cNvPr>
          <p:cNvSpPr/>
          <p:nvPr userDrawn="1"/>
        </p:nvSpPr>
        <p:spPr>
          <a:xfrm>
            <a:off x="16256402" y="2728308"/>
            <a:ext cx="1235879" cy="1235878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C5687-C25A-A73E-5192-674F560F89FA}"/>
              </a:ext>
            </a:extLst>
          </p:cNvPr>
          <p:cNvSpPr txBox="1"/>
          <p:nvPr userDrawn="1"/>
        </p:nvSpPr>
        <p:spPr>
          <a:xfrm>
            <a:off x="12602453" y="391242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F4021-33FE-506B-3C0D-688FEF669647}"/>
              </a:ext>
            </a:extLst>
          </p:cNvPr>
          <p:cNvSpPr txBox="1"/>
          <p:nvPr userDrawn="1"/>
        </p:nvSpPr>
        <p:spPr>
          <a:xfrm>
            <a:off x="14334144" y="391242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6B112C-C780-5B47-83AA-D580E668C866}"/>
              </a:ext>
            </a:extLst>
          </p:cNvPr>
          <p:cNvSpPr txBox="1"/>
          <p:nvPr userDrawn="1"/>
        </p:nvSpPr>
        <p:spPr>
          <a:xfrm>
            <a:off x="16404771" y="3912427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FC597-9201-21C6-383D-67750826F14D}"/>
              </a:ext>
            </a:extLst>
          </p:cNvPr>
          <p:cNvSpPr txBox="1"/>
          <p:nvPr userDrawn="1"/>
        </p:nvSpPr>
        <p:spPr>
          <a:xfrm>
            <a:off x="18206642" y="391242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4A6D56-917B-72D3-81F7-A59A36FC4198}"/>
              </a:ext>
            </a:extLst>
          </p:cNvPr>
          <p:cNvSpPr/>
          <p:nvPr userDrawn="1"/>
        </p:nvSpPr>
        <p:spPr>
          <a:xfrm>
            <a:off x="12625444" y="4418033"/>
            <a:ext cx="1235879" cy="1235878"/>
          </a:xfrm>
          <a:prstGeom prst="rect">
            <a:avLst/>
          </a:prstGeom>
          <a:solidFill>
            <a:srgbClr val="8A3FF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#8A3FFC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512372-0859-45E3-8DD7-AE730B4AFD19}"/>
              </a:ext>
            </a:extLst>
          </p:cNvPr>
          <p:cNvSpPr/>
          <p:nvPr userDrawn="1"/>
        </p:nvSpPr>
        <p:spPr>
          <a:xfrm>
            <a:off x="18071881" y="4418033"/>
            <a:ext cx="1235879" cy="1235878"/>
          </a:xfrm>
          <a:prstGeom prst="rect">
            <a:avLst/>
          </a:prstGeom>
          <a:solidFill>
            <a:srgbClr val="0072C3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#0072C3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197D57-5F46-DB39-F81D-9205CC53189F}"/>
              </a:ext>
            </a:extLst>
          </p:cNvPr>
          <p:cNvSpPr/>
          <p:nvPr userDrawn="1"/>
        </p:nvSpPr>
        <p:spPr>
          <a:xfrm>
            <a:off x="14440923" y="4418033"/>
            <a:ext cx="1235879" cy="1235878"/>
          </a:xfrm>
          <a:prstGeom prst="rect">
            <a:avLst/>
          </a:prstGeom>
          <a:solidFill>
            <a:srgbClr val="D0267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#D02670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0AA9B1-D6E7-98E2-49EF-C98B6F0E7E2F}"/>
              </a:ext>
            </a:extLst>
          </p:cNvPr>
          <p:cNvSpPr/>
          <p:nvPr userDrawn="1"/>
        </p:nvSpPr>
        <p:spPr>
          <a:xfrm>
            <a:off x="16256402" y="4418033"/>
            <a:ext cx="1235879" cy="1235878"/>
          </a:xfrm>
          <a:prstGeom prst="rect">
            <a:avLst/>
          </a:prstGeom>
          <a:solidFill>
            <a:srgbClr val="007D7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#007D79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A9DFA7-88D2-04F7-451C-7A2C388B178F}"/>
              </a:ext>
            </a:extLst>
          </p:cNvPr>
          <p:cNvSpPr txBox="1"/>
          <p:nvPr userDrawn="1"/>
        </p:nvSpPr>
        <p:spPr>
          <a:xfrm>
            <a:off x="12602453" y="5602152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C98F8E-1DCD-3647-3613-DFFC7CDFF372}"/>
              </a:ext>
            </a:extLst>
          </p:cNvPr>
          <p:cNvSpPr txBox="1"/>
          <p:nvPr userDrawn="1"/>
        </p:nvSpPr>
        <p:spPr>
          <a:xfrm>
            <a:off x="14334144" y="5602152"/>
            <a:ext cx="144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9F1073-373D-249D-C1F2-A527EB0210C9}"/>
              </a:ext>
            </a:extLst>
          </p:cNvPr>
          <p:cNvSpPr txBox="1"/>
          <p:nvPr userDrawn="1"/>
        </p:nvSpPr>
        <p:spPr>
          <a:xfrm>
            <a:off x="16404771" y="560215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2B31A-8903-A616-B756-B8695FC8F38A}"/>
              </a:ext>
            </a:extLst>
          </p:cNvPr>
          <p:cNvSpPr txBox="1"/>
          <p:nvPr userDrawn="1"/>
        </p:nvSpPr>
        <p:spPr>
          <a:xfrm>
            <a:off x="18206642" y="5602152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92CDF-E500-AD18-C0DB-5405AF35ADE4}"/>
              </a:ext>
            </a:extLst>
          </p:cNvPr>
          <p:cNvSpPr/>
          <p:nvPr userDrawn="1"/>
        </p:nvSpPr>
        <p:spPr>
          <a:xfrm>
            <a:off x="19512379" y="2712316"/>
            <a:ext cx="1267863" cy="1267862"/>
          </a:xfrm>
          <a:prstGeom prst="rect">
            <a:avLst/>
          </a:prstGeom>
          <a:solidFill>
            <a:srgbClr val="12161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FFFFFF"/>
                </a:solidFill>
                <a:effectLst/>
                <a:latin typeface="IBM Plex Mono" panose="020B0509050203000203" pitchFamily="49" charset="0"/>
              </a:rPr>
              <a:t>000000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CF072D-B1FC-4829-B71E-556F57965D46}"/>
              </a:ext>
            </a:extLst>
          </p:cNvPr>
          <p:cNvSpPr/>
          <p:nvPr userDrawn="1"/>
        </p:nvSpPr>
        <p:spPr>
          <a:xfrm>
            <a:off x="19510690" y="4403963"/>
            <a:ext cx="1264019" cy="12640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262626"/>
                </a:solidFill>
                <a:effectLst/>
                <a:latin typeface="IBM Plex Mono" panose="020B0509050203000203" pitchFamily="49" charset="0"/>
              </a:rPr>
              <a:t>FFFFFF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8BBA60-CCFF-F95A-ECC9-46204EA2214B}"/>
              </a:ext>
            </a:extLst>
          </p:cNvPr>
          <p:cNvSpPr/>
          <p:nvPr userDrawn="1"/>
        </p:nvSpPr>
        <p:spPr>
          <a:xfrm>
            <a:off x="12625444" y="1072749"/>
            <a:ext cx="1235879" cy="1235878"/>
          </a:xfrm>
          <a:prstGeom prst="rect">
            <a:avLst/>
          </a:prstGeom>
          <a:solidFill>
            <a:srgbClr val="F6F2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#F6F2FF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F05CFF-A449-FBB3-5F13-F7A72C2E43DE}"/>
              </a:ext>
            </a:extLst>
          </p:cNvPr>
          <p:cNvSpPr/>
          <p:nvPr userDrawn="1"/>
        </p:nvSpPr>
        <p:spPr>
          <a:xfrm>
            <a:off x="18071881" y="1072749"/>
            <a:ext cx="1235879" cy="1235878"/>
          </a:xfrm>
          <a:prstGeom prst="rect">
            <a:avLst/>
          </a:prstGeom>
          <a:solidFill>
            <a:srgbClr val="E5F6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#E5F6FF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895BC4-B52A-2D00-62C1-71A44604BBB4}"/>
              </a:ext>
            </a:extLst>
          </p:cNvPr>
          <p:cNvSpPr/>
          <p:nvPr userDrawn="1"/>
        </p:nvSpPr>
        <p:spPr>
          <a:xfrm>
            <a:off x="14440923" y="1072749"/>
            <a:ext cx="1235879" cy="1235878"/>
          </a:xfrm>
          <a:prstGeom prst="rect">
            <a:avLst/>
          </a:prstGeom>
          <a:solidFill>
            <a:srgbClr val="FFF0F7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#FFF0F7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B5B6C5-97CB-45FD-FDEC-1F5C2A0BDC3E}"/>
              </a:ext>
            </a:extLst>
          </p:cNvPr>
          <p:cNvSpPr/>
          <p:nvPr userDrawn="1"/>
        </p:nvSpPr>
        <p:spPr>
          <a:xfrm>
            <a:off x="16256402" y="1072749"/>
            <a:ext cx="1235879" cy="1235878"/>
          </a:xfrm>
          <a:prstGeom prst="rect">
            <a:avLst/>
          </a:prstGeom>
          <a:solidFill>
            <a:srgbClr val="D9FBFB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#D9FBFB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DCC439-D448-E0FC-26EF-94C7A8B8D0DB}"/>
              </a:ext>
            </a:extLst>
          </p:cNvPr>
          <p:cNvSpPr txBox="1"/>
          <p:nvPr userDrawn="1"/>
        </p:nvSpPr>
        <p:spPr>
          <a:xfrm>
            <a:off x="12602453" y="2256868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4B7B48-2E66-50BA-96FE-D24C4E60BFD7}"/>
              </a:ext>
            </a:extLst>
          </p:cNvPr>
          <p:cNvSpPr txBox="1"/>
          <p:nvPr userDrawn="1"/>
        </p:nvSpPr>
        <p:spPr>
          <a:xfrm>
            <a:off x="14334144" y="225686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767BF-EB72-86A2-DBA6-0D26C6C02894}"/>
              </a:ext>
            </a:extLst>
          </p:cNvPr>
          <p:cNvSpPr txBox="1"/>
          <p:nvPr userDrawn="1"/>
        </p:nvSpPr>
        <p:spPr>
          <a:xfrm>
            <a:off x="16404771" y="2256868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EDF829-6CB0-F03B-E025-85D510B4DC26}"/>
              </a:ext>
            </a:extLst>
          </p:cNvPr>
          <p:cNvSpPr txBox="1"/>
          <p:nvPr userDrawn="1"/>
        </p:nvSpPr>
        <p:spPr>
          <a:xfrm>
            <a:off x="18206642" y="2256868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F97BF5-A64D-02F2-4B04-BC95CE39DF3F}"/>
              </a:ext>
            </a:extLst>
          </p:cNvPr>
          <p:cNvSpPr/>
          <p:nvPr userDrawn="1"/>
        </p:nvSpPr>
        <p:spPr>
          <a:xfrm>
            <a:off x="16222135" y="-2341897"/>
            <a:ext cx="1267863" cy="1267862"/>
          </a:xfrm>
          <a:prstGeom prst="rect">
            <a:avLst/>
          </a:prstGeom>
          <a:solidFill>
            <a:srgbClr val="C1C7CD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#C1C7CD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738F9B-27C5-3C49-8FD7-0731EE9AC3BF}"/>
              </a:ext>
            </a:extLst>
          </p:cNvPr>
          <p:cNvSpPr/>
          <p:nvPr userDrawn="1"/>
        </p:nvSpPr>
        <p:spPr>
          <a:xfrm>
            <a:off x="16222135" y="-801901"/>
            <a:ext cx="1267863" cy="1267862"/>
          </a:xfrm>
          <a:prstGeom prst="rect">
            <a:avLst/>
          </a:prstGeom>
          <a:solidFill>
            <a:srgbClr val="F2F4F8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#F2F4F8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194F16-D83C-3057-9151-A884EA8F0931}"/>
              </a:ext>
            </a:extLst>
          </p:cNvPr>
          <p:cNvSpPr/>
          <p:nvPr userDrawn="1"/>
        </p:nvSpPr>
        <p:spPr>
          <a:xfrm>
            <a:off x="14397282" y="-2352139"/>
            <a:ext cx="1267863" cy="1267862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C7A661-0FF9-B849-2771-84AA24CF5EFF}"/>
              </a:ext>
            </a:extLst>
          </p:cNvPr>
          <p:cNvSpPr/>
          <p:nvPr userDrawn="1"/>
        </p:nvSpPr>
        <p:spPr>
          <a:xfrm>
            <a:off x="14397282" y="-812143"/>
            <a:ext cx="1267863" cy="1267862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4675A9-3F9A-460D-D8D6-C5D9516859D4}"/>
              </a:ext>
            </a:extLst>
          </p:cNvPr>
          <p:cNvSpPr/>
          <p:nvPr userDrawn="1"/>
        </p:nvSpPr>
        <p:spPr>
          <a:xfrm>
            <a:off x="12572429" y="-2309174"/>
            <a:ext cx="1267863" cy="1267862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8C7787-7D0E-ED5D-DB99-53C4B52AA8F2}"/>
              </a:ext>
            </a:extLst>
          </p:cNvPr>
          <p:cNvSpPr/>
          <p:nvPr userDrawn="1"/>
        </p:nvSpPr>
        <p:spPr>
          <a:xfrm>
            <a:off x="12572429" y="-769178"/>
            <a:ext cx="1267863" cy="1267862"/>
          </a:xfrm>
          <a:prstGeom prst="rect">
            <a:avLst/>
          </a:prstGeom>
          <a:solidFill>
            <a:srgbClr val="78A9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#78A9FF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CCBF62-5F94-E366-51BD-6C8DCBF90955}"/>
              </a:ext>
            </a:extLst>
          </p:cNvPr>
          <p:cNvSpPr/>
          <p:nvPr userDrawn="1"/>
        </p:nvSpPr>
        <p:spPr>
          <a:xfrm>
            <a:off x="17993876" y="-2309174"/>
            <a:ext cx="1267863" cy="1267862"/>
          </a:xfrm>
          <a:prstGeom prst="rect">
            <a:avLst/>
          </a:prstGeom>
          <a:solidFill>
            <a:srgbClr val="52525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Labels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#525252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880850-0EBA-AD14-E6FD-BB1DC94F3DA5}"/>
              </a:ext>
            </a:extLst>
          </p:cNvPr>
          <p:cNvSpPr/>
          <p:nvPr userDrawn="1"/>
        </p:nvSpPr>
        <p:spPr>
          <a:xfrm>
            <a:off x="17993875" y="-812143"/>
            <a:ext cx="1267863" cy="1267862"/>
          </a:xfrm>
          <a:prstGeom prst="rect">
            <a:avLst/>
          </a:prstGeom>
          <a:solidFill>
            <a:srgbClr val="26262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Text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#262626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8.xml"/><Relationship Id="rId3" Type="http://schemas.openxmlformats.org/officeDocument/2006/relationships/image" Target="../media/image9.png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0.png"/><Relationship Id="rId10" Type="http://schemas.openxmlformats.org/officeDocument/2006/relationships/customXml" Target="../ink/ink5.xml"/><Relationship Id="rId4" Type="http://schemas.openxmlformats.org/officeDocument/2006/relationships/customXml" Target="../ink/ink1.xml"/><Relationship Id="rId9" Type="http://schemas.openxmlformats.org/officeDocument/2006/relationships/image" Target="../media/image11.png"/><Relationship Id="rId14" Type="http://schemas.openxmlformats.org/officeDocument/2006/relationships/customXml" Target="../ink/ink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162"/>
            <a:ext cx="10515600" cy="611620"/>
          </a:xfrm>
        </p:spPr>
        <p:txBody>
          <a:bodyPr anchor="ctr">
            <a:noAutofit/>
          </a:bodyPr>
          <a:lstStyle/>
          <a:p>
            <a:r>
              <a:rPr lang="en-US" dirty="0"/>
              <a:t>Capstone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IBM </a:t>
            </a:r>
            <a:r>
              <a:rPr lang="en-US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on Coursera by</a:t>
            </a:r>
            <a:endParaRPr lang="en-US" dirty="0">
              <a:solidFill>
                <a:schemeClr val="bg1">
                  <a:lumMod val="75000"/>
                </a:schemeClr>
              </a:solidFill>
              <a:latin typeface="IBM Plex Mono Medium" panose="020B0609050203000203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Jessica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Obot</a:t>
            </a:r>
            <a:endParaRPr lang="en-US" dirty="0">
              <a:solidFill>
                <a:schemeClr val="bg1">
                  <a:lumMod val="75000"/>
                </a:schemeClr>
              </a:solidFill>
              <a:latin typeface="IBM Plex Mono Medium" panose="020B0609050203000203" pitchFamily="49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811" y="1600200"/>
            <a:ext cx="5038015" cy="4572000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3BC838-B25A-D37F-BC71-DD617895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C79264-7E04-A135-9158-F7EF333AC3D8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639434-C7DB-C6DD-28C9-5FE3588C5BC8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Executive Summary</a:t>
            </a:r>
          </a:p>
          <a:p>
            <a:r>
              <a:rPr lang="en-US" sz="2200" dirty="0"/>
              <a:t>Introduction</a:t>
            </a:r>
          </a:p>
          <a:p>
            <a:r>
              <a:rPr lang="en-US" sz="2200" dirty="0"/>
              <a:t>Methodology</a:t>
            </a:r>
          </a:p>
          <a:p>
            <a:r>
              <a:rPr lang="en-US" sz="2200" dirty="0"/>
              <a:t>Results</a:t>
            </a:r>
          </a:p>
          <a:p>
            <a:pPr lvl="1"/>
            <a:r>
              <a:rPr lang="en-US" sz="1800" dirty="0"/>
              <a:t>Visualization – Charts</a:t>
            </a:r>
          </a:p>
          <a:p>
            <a:pPr lvl="1"/>
            <a:r>
              <a:rPr lang="en-US" sz="1800" dirty="0"/>
              <a:t>Dashboard</a:t>
            </a:r>
          </a:p>
          <a:p>
            <a:r>
              <a:rPr lang="en-US" sz="2200" dirty="0"/>
              <a:t>Discussion</a:t>
            </a:r>
          </a:p>
          <a:p>
            <a:pPr lvl="1"/>
            <a:r>
              <a:rPr lang="en-US" sz="1800" dirty="0"/>
              <a:t>Findings &amp; Implications</a:t>
            </a:r>
          </a:p>
          <a:p>
            <a:r>
              <a:rPr lang="en-US" sz="2200" dirty="0"/>
              <a:t>Conclusion</a:t>
            </a:r>
          </a:p>
          <a:p>
            <a:r>
              <a:rPr lang="en-US" sz="2200" dirty="0"/>
              <a:t>Appendix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8120" y="782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532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48024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256032"/>
            <a:ext cx="102412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 i="0">
                <a:solidFill>
                  <a:srgbClr val="252A34"/>
                </a:solidFill>
                <a:latin typeface="Aptos Display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77824"/>
            <a:ext cx="10874959" cy="10972"/>
          </a:xfrm>
          <a:prstGeom prst="rect">
            <a:avLst/>
          </a:prstGeom>
          <a:solidFill>
            <a:srgbClr val="6D5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" y="749808"/>
            <a:ext cx="102412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697386"/>
                </a:solidFill>
                <a:latin typeface="Aptos"/>
              </a:rPr>
              <a:t>WHAT THE DATA SAYS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10881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1">
                <a:solidFill>
                  <a:srgbClr val="697386"/>
                </a:solidFill>
                <a:latin typeface="Aptos"/>
              </a:rPr>
              <a:t>Source: Stack Overflow Developer Survey 2025, Technology + Developers pages (official published results).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170432"/>
            <a:ext cx="2148840" cy="1051560"/>
          </a:xfrm>
          <a:prstGeom prst="roundRect">
            <a:avLst/>
          </a:prstGeom>
          <a:solidFill>
            <a:srgbClr val="E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289304"/>
            <a:ext cx="1874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1DA1FF"/>
                </a:solidFill>
                <a:latin typeface="Aptos Display"/>
              </a:rPr>
              <a:t>66.0%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755648"/>
            <a:ext cx="1874520" cy="4297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697386"/>
                </a:solidFill>
                <a:latin typeface="Aptos"/>
              </a:rPr>
              <a:t>JavaScript current use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44368" y="1170432"/>
            <a:ext cx="2148840" cy="1051560"/>
          </a:xfrm>
          <a:prstGeom prst="roundRect">
            <a:avLst/>
          </a:prstGeom>
          <a:solidFill>
            <a:srgbClr val="FF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90672" y="1289304"/>
            <a:ext cx="1874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48024"/>
                </a:solidFill>
                <a:latin typeface="Aptos Display"/>
              </a:rPr>
              <a:t>39.3%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1755648"/>
            <a:ext cx="1874520" cy="4297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697386"/>
                </a:solidFill>
                <a:latin typeface="Aptos"/>
              </a:rPr>
              <a:t>Python desired next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30368" y="1170432"/>
            <a:ext cx="2148840" cy="1051560"/>
          </a:xfrm>
          <a:prstGeom prst="roundRect">
            <a:avLst/>
          </a:prstGeom>
          <a:solidFill>
            <a:srgbClr val="E3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76672" y="1289304"/>
            <a:ext cx="1874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15A58A"/>
                </a:solidFill>
                <a:latin typeface="Aptos Display"/>
              </a:rPr>
              <a:t>55.6%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6672" y="1755648"/>
            <a:ext cx="1874520" cy="4297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697386"/>
                </a:solidFill>
                <a:latin typeface="Aptos"/>
              </a:rPr>
              <a:t>PostgreSQL current use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16368" y="1170432"/>
            <a:ext cx="2148840" cy="1051560"/>
          </a:xfrm>
          <a:prstGeom prst="roundRect">
            <a:avLst/>
          </a:prstGeom>
          <a:solidFill>
            <a:srgbClr val="EE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62672" y="1289304"/>
            <a:ext cx="1874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6D5BD0"/>
                </a:solidFill>
                <a:latin typeface="Aptos Display"/>
              </a:rPr>
              <a:t>$130.8k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2" y="1755648"/>
            <a:ext cx="1874520" cy="4297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697386"/>
                </a:solidFill>
                <a:latin typeface="Aptos"/>
              </a:rPr>
              <a:t>Highest scraped salary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02368" y="1170432"/>
            <a:ext cx="1719072" cy="1051560"/>
          </a:xfrm>
          <a:prstGeom prst="roundRect">
            <a:avLst/>
          </a:prstGeom>
          <a:solidFill>
            <a:srgbClr val="F2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48672" y="1289304"/>
            <a:ext cx="1444751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172133"/>
                </a:solidFill>
                <a:latin typeface="Aptos Display"/>
              </a:rPr>
              <a:t>27,005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8672" y="1755648"/>
            <a:ext cx="1444751" cy="4297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697386"/>
                </a:solidFill>
                <a:latin typeface="Aptos"/>
              </a:rPr>
              <a:t>Job records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2542032"/>
            <a:ext cx="5394960" cy="338328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2743200"/>
            <a:ext cx="49377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252A34"/>
                </a:solidFill>
                <a:latin typeface="Aptos"/>
              </a:rPr>
              <a:t>The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3182112"/>
            <a:ext cx="201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50" b="1" i="0">
                <a:solidFill>
                  <a:srgbClr val="F48024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" y="3172968"/>
            <a:ext cx="4544568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52A34"/>
                </a:solidFill>
                <a:latin typeface="Aptos"/>
              </a:rPr>
              <a:t>JavaScript, HTML/CSS and SQL lead current use.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3785615"/>
            <a:ext cx="201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50" b="1" i="0">
                <a:solidFill>
                  <a:srgbClr val="F48024"/>
                </a:solidFill>
                <a:latin typeface="Apto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" y="3776472"/>
            <a:ext cx="4544568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52A34"/>
                </a:solidFill>
                <a:latin typeface="Aptos"/>
              </a:rPr>
              <a:t>Python is the strongest “next skill” signal.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4389120"/>
            <a:ext cx="201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50" b="1" i="0">
                <a:solidFill>
                  <a:srgbClr val="F48024"/>
                </a:solidFill>
                <a:latin typeface="Apto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" y="4379976"/>
            <a:ext cx="4544568" cy="4206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52A34"/>
                </a:solidFill>
                <a:latin typeface="Aptos"/>
              </a:rPr>
              <a:t>PostgreSQL leads both current and desired database use.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4992624"/>
            <a:ext cx="201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50" b="1" i="0">
                <a:solidFill>
                  <a:srgbClr val="F48024"/>
                </a:solidFill>
                <a:latin typeface="Apto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" y="4983480"/>
            <a:ext cx="4544568" cy="4206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52A34"/>
                </a:solidFill>
                <a:latin typeface="Aptos"/>
              </a:rPr>
              <a:t>The job sample is directional, not a labor-market census.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2542032"/>
            <a:ext cx="5212080" cy="3383280"/>
          </a:xfrm>
          <a:prstGeom prst="roundRect">
            <a:avLst/>
          </a:prstGeom>
          <a:solidFill>
            <a:srgbClr val="17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0" y="2788920"/>
            <a:ext cx="4572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A8B3C8"/>
                </a:solidFill>
                <a:latin typeface="Aptos"/>
              </a:rPr>
              <a:t>Decision takeaway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182112"/>
            <a:ext cx="4526280" cy="1463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Aptos Display"/>
              </a:rPr>
              <a:t>Build durable fundamentals first — then add Python, PostgreSQL, Rust or Go according to the role you want next.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074920"/>
            <a:ext cx="44348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9D2E3"/>
                </a:solidFill>
                <a:latin typeface="Aptos"/>
              </a:rPr>
              <a:t>This is the through-line across the survey, job sample and salary table.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656832"/>
            <a:ext cx="50292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80" b="1" i="0">
                <a:solidFill>
                  <a:srgbClr val="9299A8"/>
                </a:solidFill>
                <a:latin typeface="Aptos"/>
              </a:rPr>
              <a:t>DATA ANALYST CAPSTONE  •  2025 SURVEY EDITION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647688"/>
            <a:ext cx="45720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9299A8"/>
                </a:solidFill>
                <a:latin typeface="Aptos"/>
              </a:rPr>
              <a:t>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48024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256032"/>
            <a:ext cx="102412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 i="0">
                <a:solidFill>
                  <a:srgbClr val="252A34"/>
                </a:solidFill>
                <a:latin typeface="Aptos Display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77824"/>
            <a:ext cx="10874959" cy="10972"/>
          </a:xfrm>
          <a:prstGeom prst="rect">
            <a:avLst/>
          </a:prstGeom>
          <a:solidFill>
            <a:srgbClr val="6D5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" y="749808"/>
            <a:ext cx="102412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697386"/>
                </a:solidFill>
                <a:latin typeface="Aptos"/>
              </a:rPr>
              <a:t>PURPOSE, AUDIENCE AND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10881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1">
                <a:solidFill>
                  <a:srgbClr val="697386"/>
                </a:solidFill>
                <a:latin typeface="Aptos"/>
              </a:rPr>
              <a:t>Source: Stack Overflow Developer Survey 2025, Technology + Developers pages (official published results).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143000"/>
            <a:ext cx="3749039" cy="5074920"/>
          </a:xfrm>
          <a:prstGeom prst="roundRect">
            <a:avLst/>
          </a:prstGeom>
          <a:solidFill>
            <a:srgbClr val="EE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3246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6D5BD0"/>
                </a:solidFill>
                <a:latin typeface="Aptos"/>
              </a:rPr>
              <a:t>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3154680" cy="1188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252A34"/>
                </a:solidFill>
                <a:latin typeface="Aptos Display"/>
              </a:rPr>
              <a:t>Which technologies and skills are most useful to learn next?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75887"/>
            <a:ext cx="3154680" cy="1554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697386"/>
                </a:solidFill>
                <a:latin typeface="Aptos"/>
              </a:rPr>
              <a:t>The analysis joins three perspectives:
• what developers use
• what they want next
• what appears in a job sample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73168" y="1143000"/>
            <a:ext cx="6748272" cy="132588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74920" y="1371600"/>
            <a:ext cx="12801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48024"/>
                </a:solidFill>
                <a:latin typeface="Aptos"/>
              </a:rPr>
              <a:t>Audience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353312"/>
            <a:ext cx="470916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252A34"/>
                </a:solidFill>
                <a:latin typeface="Aptos"/>
              </a:rPr>
              <a:t>Learners, early-career analysts, hiring teams and program instructors.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73168" y="2697480"/>
            <a:ext cx="3200400" cy="2240280"/>
          </a:xfrm>
          <a:prstGeom prst="roundRect">
            <a:avLst/>
          </a:prstGeom>
          <a:solidFill>
            <a:srgbClr val="E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0" y="2944368"/>
            <a:ext cx="2651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DA1FF"/>
                </a:solidFill>
                <a:latin typeface="Aptos"/>
              </a:rPr>
              <a:t>Value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337560"/>
            <a:ext cx="256032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252A34"/>
                </a:solidFill>
                <a:latin typeface="Aptos"/>
              </a:rPr>
              <a:t>Translate a large survey into an actionable learning path.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2697480"/>
            <a:ext cx="3200400" cy="2240280"/>
          </a:xfrm>
          <a:prstGeom prst="roundRect">
            <a:avLst/>
          </a:prstGeom>
          <a:solidFill>
            <a:srgbClr val="E3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77072" y="2944368"/>
            <a:ext cx="2651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5A58A"/>
                </a:solidFill>
                <a:latin typeface="Aptos"/>
              </a:rPr>
              <a:t>Value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3337560"/>
            <a:ext cx="256032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252A34"/>
                </a:solidFill>
                <a:latin typeface="Aptos"/>
              </a:rPr>
              <a:t>Separate broad popularity from forward-looking demand.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73168" y="5212080"/>
            <a:ext cx="6748272" cy="1005840"/>
          </a:xfrm>
          <a:prstGeom prst="roundRect">
            <a:avLst/>
          </a:prstGeom>
          <a:solidFill>
            <a:srgbClr val="FF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74920" y="5458968"/>
            <a:ext cx="60807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252A34"/>
                </a:solidFill>
                <a:latin typeface="Aptos"/>
              </a:rPr>
              <a:t>Scope note: Stack Overflow’s latest published survey in this analysis is 2025; the two IBM lab datasets are smaller teaching datasets.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656832"/>
            <a:ext cx="50292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80" b="1" i="0">
                <a:solidFill>
                  <a:srgbClr val="9299A8"/>
                </a:solidFill>
                <a:latin typeface="Aptos"/>
              </a:rPr>
              <a:t>DATA ANALYST CAPSTONE  •  2025 SURVEY EDITION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647688"/>
            <a:ext cx="45720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9299A8"/>
                </a:solidFill>
                <a:latin typeface="Aptos"/>
              </a:rPr>
              <a:t>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48024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256032"/>
            <a:ext cx="102412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 i="0">
                <a:solidFill>
                  <a:srgbClr val="252A34"/>
                </a:solidFill>
                <a:latin typeface="Aptos Display"/>
              </a:rPr>
              <a:t>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77824"/>
            <a:ext cx="10874959" cy="10972"/>
          </a:xfrm>
          <a:prstGeom prst="rect">
            <a:avLst/>
          </a:prstGeom>
          <a:solidFill>
            <a:srgbClr val="6D5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" y="749808"/>
            <a:ext cx="102412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697386"/>
                </a:solidFill>
                <a:latin typeface="Aptos"/>
              </a:rPr>
              <a:t>THREE SOURCES, ONE DECISION 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10881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1">
                <a:solidFill>
                  <a:srgbClr val="697386"/>
                </a:solidFill>
                <a:latin typeface="Aptos"/>
              </a:rPr>
              <a:t>Sources: Official Stack Overflow 2025 pages; IBM Skills Network Jobs API lab; IBM Skills Network Web Scraping lab.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2395728" cy="2788920"/>
          </a:xfrm>
          <a:prstGeom prst="roundRect">
            <a:avLst/>
          </a:prstGeom>
          <a:solidFill>
            <a:srgbClr val="E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DA1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20116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252A34"/>
                </a:solidFill>
                <a:latin typeface="Aptos Display"/>
              </a:rPr>
              <a:t>Collect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196596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97386"/>
                </a:solidFill>
                <a:latin typeface="Aptos"/>
              </a:rPr>
              <a:t>Official 2025 survey pages + two lab datasets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47872" y="1371600"/>
            <a:ext cx="2395728" cy="2788920"/>
          </a:xfrm>
          <a:prstGeom prst="roundRect">
            <a:avLst/>
          </a:prstGeom>
          <a:solidFill>
            <a:srgbClr val="EE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30752" y="1600200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6D5BD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057400"/>
            <a:ext cx="20116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252A34"/>
                </a:solidFill>
                <a:latin typeface="Aptos Display"/>
              </a:rPr>
              <a:t>Clean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651760"/>
            <a:ext cx="196596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97386"/>
                </a:solidFill>
                <a:latin typeface="Aptos"/>
              </a:rPr>
              <a:t>Normalize names, parse percentages and correct one location typo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64224" y="1371600"/>
            <a:ext cx="2395728" cy="2788920"/>
          </a:xfrm>
          <a:prstGeom prst="roundRect">
            <a:avLst/>
          </a:prstGeom>
          <a:solidFill>
            <a:srgbClr val="E3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47104" y="1600200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5A58A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2057400"/>
            <a:ext cx="20116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252A34"/>
                </a:solidFill>
                <a:latin typeface="Aptos Display"/>
              </a:rPr>
              <a:t>Compare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2651760"/>
            <a:ext cx="196596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97386"/>
                </a:solidFill>
                <a:latin typeface="Aptos"/>
              </a:rPr>
              <a:t>Current use vs desired use; jobs vs salary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0576" y="1371600"/>
            <a:ext cx="2395728" cy="2788920"/>
          </a:xfrm>
          <a:prstGeom prst="roundRect">
            <a:avLst/>
          </a:prstGeom>
          <a:solidFill>
            <a:srgbClr val="FF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63456" y="1600200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48024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3456" y="2057400"/>
            <a:ext cx="20116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252A34"/>
                </a:solidFill>
                <a:latin typeface="Aptos Display"/>
              </a:rPr>
              <a:t>Communicate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651760"/>
            <a:ext cx="196596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97386"/>
                </a:solidFill>
                <a:latin typeface="Aptos"/>
              </a:rPr>
              <a:t>Charts, dashboard views and implications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617720"/>
            <a:ext cx="10881360" cy="1207008"/>
          </a:xfrm>
          <a:prstGeom prst="roundRect">
            <a:avLst/>
          </a:prstGeom>
          <a:solidFill>
            <a:srgbClr val="17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24128" y="4873752"/>
            <a:ext cx="13258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A8B3C8"/>
                </a:solidFill>
                <a:latin typeface="Aptos"/>
              </a:rPr>
              <a:t>Guardrail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828032"/>
            <a:ext cx="89611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Use the survey for broad developer signals; use the job and salary labs as directional examples, not like-for-like market estimates.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656832"/>
            <a:ext cx="50292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80" b="1" i="0" dirty="0">
                <a:solidFill>
                  <a:srgbClr val="9299A8"/>
                </a:solidFill>
                <a:latin typeface="Aptos"/>
              </a:rPr>
              <a:t>DATA ANALYST CAPSTONE  •  2025 SURVEY EDITION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647688"/>
            <a:ext cx="45720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9299A8"/>
                </a:solidFill>
                <a:latin typeface="Aptos"/>
              </a:rPr>
              <a:t>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47B35-92B8-C737-3DEB-4A57887A1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48024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256032"/>
            <a:ext cx="102412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 i="0">
                <a:solidFill>
                  <a:srgbClr val="252A34"/>
                </a:solidFill>
                <a:latin typeface="Aptos Display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77824"/>
            <a:ext cx="10874959" cy="10972"/>
          </a:xfrm>
          <a:prstGeom prst="rect">
            <a:avLst/>
          </a:prstGeom>
          <a:solidFill>
            <a:srgbClr val="6D5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" y="749808"/>
            <a:ext cx="102412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697386"/>
                </a:solidFill>
                <a:latin typeface="Aptos"/>
              </a:rPr>
              <a:t>FROM RAW RECORDS TO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353312"/>
            <a:ext cx="59436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252A34"/>
                </a:solidFill>
                <a:latin typeface="Aptos Display"/>
              </a:rPr>
              <a:t>The results combine popularity, momentum and employability signals.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176272"/>
            <a:ext cx="530352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697386"/>
                </a:solidFill>
                <a:latin typeface="Aptos"/>
              </a:rPr>
              <a:t>The next four sections move from the two lab exercises into the official survey’s technology and demographic views.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154680"/>
            <a:ext cx="2487168" cy="2103120"/>
          </a:xfrm>
          <a:prstGeom prst="roundRect">
            <a:avLst/>
          </a:prstGeom>
          <a:solidFill>
            <a:srgbClr val="E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1" y="3291840"/>
            <a:ext cx="411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DA1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657600"/>
            <a:ext cx="2167128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252A34"/>
                </a:solidFill>
                <a:latin typeface="Aptos"/>
              </a:rPr>
              <a:t>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4133088"/>
            <a:ext cx="2167128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697386"/>
                </a:solidFill>
                <a:latin typeface="Aptos"/>
              </a:rPr>
              <a:t>Where the API sample is concentrated.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84448" y="3154680"/>
            <a:ext cx="2487168" cy="2103120"/>
          </a:xfrm>
          <a:prstGeom prst="roundRect">
            <a:avLst/>
          </a:prstGeom>
          <a:solidFill>
            <a:srgbClr val="FF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39" y="3291840"/>
            <a:ext cx="411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48024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657600"/>
            <a:ext cx="2167128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252A34"/>
                </a:solidFill>
                <a:latin typeface="Aptos"/>
              </a:rPr>
              <a:t>Salary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4133088"/>
            <a:ext cx="2167128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697386"/>
                </a:solidFill>
                <a:latin typeface="Aptos"/>
              </a:rPr>
              <a:t>Which scraped languages top the table.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0216" y="3154680"/>
            <a:ext cx="2487168" cy="2103120"/>
          </a:xfrm>
          <a:prstGeom prst="roundRect">
            <a:avLst/>
          </a:prstGeom>
          <a:solidFill>
            <a:srgbClr val="E3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4807" y="3291840"/>
            <a:ext cx="411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5A58A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3657600"/>
            <a:ext cx="2167128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252A34"/>
                </a:solidFill>
                <a:latin typeface="Aptos"/>
              </a:rPr>
              <a:t>Technology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4133088"/>
            <a:ext cx="2167128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697386"/>
                </a:solidFill>
                <a:latin typeface="Aptos"/>
              </a:rPr>
              <a:t>Current use versus desired next.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15984" y="3154680"/>
            <a:ext cx="2487168" cy="2103120"/>
          </a:xfrm>
          <a:prstGeom prst="roundRect">
            <a:avLst/>
          </a:prstGeom>
          <a:solidFill>
            <a:srgbClr val="EE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80576" y="3291840"/>
            <a:ext cx="411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6D5BD0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6" y="3657600"/>
            <a:ext cx="2167128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252A34"/>
                </a:solidFill>
                <a:latin typeface="Aptos"/>
              </a:rPr>
              <a:t>People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4133088"/>
            <a:ext cx="2167128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697386"/>
                </a:solidFill>
                <a:latin typeface="Aptos"/>
              </a:rPr>
              <a:t>Who answered the survey.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656832"/>
            <a:ext cx="50292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80" b="1" i="0">
                <a:solidFill>
                  <a:srgbClr val="9299A8"/>
                </a:solidFill>
                <a:latin typeface="Aptos"/>
              </a:rPr>
              <a:t>DATA ANALYST CAPSTONE  •  2025 SURVEY EDITION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647688"/>
            <a:ext cx="45720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9299A8"/>
                </a:solidFill>
                <a:latin typeface="Aptos"/>
              </a:rPr>
              <a:t>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1327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4E31-32FC-4A23-CEF9-98F0BB9F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48024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256032"/>
            <a:ext cx="102412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 i="0">
                <a:solidFill>
                  <a:srgbClr val="252A34"/>
                </a:solidFill>
                <a:latin typeface="Aptos Display"/>
              </a:rPr>
              <a:t>Job postings by location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77824"/>
            <a:ext cx="10874959" cy="10972"/>
          </a:xfrm>
          <a:prstGeom prst="rect">
            <a:avLst/>
          </a:prstGeom>
          <a:solidFill>
            <a:srgbClr val="6D5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" y="749808"/>
            <a:ext cx="102412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697386"/>
                </a:solidFill>
                <a:latin typeface="Aptos"/>
              </a:rPr>
              <a:t>API LAB RESULT — DESCENDING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10881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1">
                <a:solidFill>
                  <a:srgbClr val="697386"/>
                </a:solidFill>
                <a:latin typeface="Aptos"/>
              </a:rPr>
              <a:t>Source: IBM Skills Network Jobs API lab; 27,005 records from jobs.json (location typo “New Your” corrected to New York).</a:t>
            </a:r>
          </a:p>
        </p:txBody>
      </p:sp>
      <p:pic>
        <p:nvPicPr>
          <p:cNvPr id="8" name="Picture 7" descr="01_job_loc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143000"/>
            <a:ext cx="6400800" cy="377947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79" y="1325880"/>
            <a:ext cx="3977639" cy="1097280"/>
          </a:xfrm>
          <a:prstGeom prst="roundRect">
            <a:avLst/>
          </a:prstGeom>
          <a:solidFill>
            <a:srgbClr val="E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54112" y="1554480"/>
            <a:ext cx="3474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DA1FF"/>
                </a:solidFill>
                <a:latin typeface="Aptos"/>
              </a:rPr>
              <a:t>Largest 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4112" y="1874519"/>
            <a:ext cx="34290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252A34"/>
                </a:solidFill>
                <a:latin typeface="Aptos"/>
              </a:rPr>
              <a:t>Washington DC  •  5,316 postings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697480"/>
            <a:ext cx="3977639" cy="2487168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54112" y="2944368"/>
            <a:ext cx="3429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48024"/>
                </a:solidFill>
                <a:latin typeface="Aptos"/>
              </a:rPr>
              <a:t>Read this carefully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4112" y="3374136"/>
            <a:ext cx="201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20" b="1" i="0">
                <a:solidFill>
                  <a:srgbClr val="F48024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0144" y="3364992"/>
            <a:ext cx="3081528" cy="4206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252A34"/>
                </a:solidFill>
                <a:latin typeface="Aptos"/>
              </a:rPr>
              <a:t>Washington DC and Detroit are the largest locations.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4112" y="3904487"/>
            <a:ext cx="201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20" b="1" i="0">
                <a:solidFill>
                  <a:srgbClr val="F48024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0144" y="3895344"/>
            <a:ext cx="3081528" cy="4206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252A34"/>
                </a:solidFill>
                <a:latin typeface="Aptos"/>
              </a:rPr>
              <a:t>This is a teaching subset, not a live job board.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4112" y="4434840"/>
            <a:ext cx="201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20" b="1" i="0">
                <a:solidFill>
                  <a:srgbClr val="F48024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0144" y="4425696"/>
            <a:ext cx="3081528" cy="4206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252A34"/>
                </a:solidFill>
                <a:latin typeface="Aptos"/>
              </a:rPr>
              <a:t>The ranking is useful for practicing visualization.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656832"/>
            <a:ext cx="50292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80" b="1" i="0">
                <a:solidFill>
                  <a:srgbClr val="9299A8"/>
                </a:solidFill>
                <a:latin typeface="Aptos"/>
              </a:rPr>
              <a:t>DATA ANALYST CAPSTONE  •  2025 SURVEY EDITION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647688"/>
            <a:ext cx="45720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9299A8"/>
                </a:solidFill>
                <a:latin typeface="Aptos"/>
              </a:rPr>
              <a:t>7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5373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B558-7141-B0CE-D399-712C1073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48024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256032"/>
            <a:ext cx="102412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 i="0">
                <a:solidFill>
                  <a:srgbClr val="252A34"/>
                </a:solidFill>
                <a:latin typeface="Aptos Display"/>
              </a:rPr>
              <a:t>Popular languages by salary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77824"/>
            <a:ext cx="10874959" cy="10972"/>
          </a:xfrm>
          <a:prstGeom prst="rect">
            <a:avLst/>
          </a:prstGeom>
          <a:solidFill>
            <a:srgbClr val="6D5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" y="749808"/>
            <a:ext cx="102412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697386"/>
                </a:solidFill>
                <a:latin typeface="Aptos"/>
              </a:rPr>
              <a:t>WEB-SCRAPING LAB RESULT — DESCENDING SALARY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10881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1">
                <a:solidFill>
                  <a:srgbClr val="697386"/>
                </a:solidFill>
                <a:latin typeface="Aptos"/>
              </a:rPr>
              <a:t>Source: IBM Skills Network Web Scraping lab; Programming_Languages.html, 10-language salary table.</a:t>
            </a:r>
          </a:p>
        </p:txBody>
      </p:sp>
      <p:pic>
        <p:nvPicPr>
          <p:cNvPr id="8" name="Picture 7" descr="02_language_sal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143000"/>
            <a:ext cx="6492240" cy="389195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79" y="1280160"/>
            <a:ext cx="3977639" cy="1143000"/>
          </a:xfrm>
          <a:prstGeom prst="roundRect">
            <a:avLst/>
          </a:prstGeom>
          <a:solidFill>
            <a:srgbClr val="FF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54112" y="1536192"/>
            <a:ext cx="3474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48024"/>
                </a:solidFill>
                <a:latin typeface="Aptos"/>
              </a:rPr>
              <a:t>Top in the scraped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4112" y="1865376"/>
            <a:ext cx="34747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252A34"/>
                </a:solidFill>
                <a:latin typeface="Aptos"/>
              </a:rPr>
              <a:t>Swift  •  $130,801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743200"/>
            <a:ext cx="3977639" cy="246888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54112" y="2999232"/>
            <a:ext cx="3429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6D5BD0"/>
                </a:solidFill>
                <a:latin typeface="Aptos"/>
              </a:rPr>
              <a:t>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4112" y="3410712"/>
            <a:ext cx="201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20" b="1" i="0">
                <a:solidFill>
                  <a:srgbClr val="6D5BD0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0144" y="3401568"/>
            <a:ext cx="3081528" cy="4206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252A34"/>
                </a:solidFill>
                <a:latin typeface="Aptos"/>
              </a:rPr>
              <a:t>Swift is the highest-paying language in this small table.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4112" y="3950208"/>
            <a:ext cx="201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20" b="1" i="0">
                <a:solidFill>
                  <a:srgbClr val="6D5BD0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0144" y="3941064"/>
            <a:ext cx="3081528" cy="4206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252A34"/>
                </a:solidFill>
                <a:latin typeface="Aptos"/>
              </a:rPr>
              <a:t>Role, level, geography and industry also shape salary.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4112" y="4489704"/>
            <a:ext cx="201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20" b="1" i="0">
                <a:solidFill>
                  <a:srgbClr val="6D5BD0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0144" y="4480560"/>
            <a:ext cx="3081528" cy="4206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252A34"/>
                </a:solidFill>
                <a:latin typeface="Aptos"/>
              </a:rPr>
              <a:t>Treat this as a scraping exercise, not a benchmark.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656832"/>
            <a:ext cx="50292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80" b="1" i="0">
                <a:solidFill>
                  <a:srgbClr val="9299A8"/>
                </a:solidFill>
                <a:latin typeface="Aptos"/>
              </a:rPr>
              <a:t>DATA ANALYST CAPSTONE  •  2025 SURVEY EDITION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647688"/>
            <a:ext cx="45720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9299A8"/>
                </a:solidFill>
                <a:latin typeface="Aptos"/>
              </a:rPr>
              <a:t>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5902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48024"/>
                </a:solidFill>
                <a:latin typeface="Apto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256032"/>
            <a:ext cx="102412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 i="0">
                <a:solidFill>
                  <a:srgbClr val="252A34"/>
                </a:solidFill>
                <a:latin typeface="Aptos Display"/>
              </a:rPr>
              <a:t>Programming language trends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77824"/>
            <a:ext cx="10874959" cy="10972"/>
          </a:xfrm>
          <a:prstGeom prst="rect">
            <a:avLst/>
          </a:prstGeom>
          <a:solidFill>
            <a:srgbClr val="6D5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" y="749808"/>
            <a:ext cx="102412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697386"/>
                </a:solidFill>
                <a:latin typeface="Aptos"/>
              </a:rPr>
              <a:t>CURRENT USE VS DESIRED NEXT-YEAR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10881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1">
                <a:solidFill>
                  <a:srgbClr val="697386"/>
                </a:solidFill>
                <a:latin typeface="Aptos"/>
              </a:rPr>
              <a:t>Source: Stack Overflow Developer Survey 2025, Technology + Developers pages (official published results).</a:t>
            </a:r>
          </a:p>
        </p:txBody>
      </p:sp>
      <p:pic>
        <p:nvPicPr>
          <p:cNvPr id="8" name="Picture 7" descr="03_language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143000"/>
            <a:ext cx="7315200" cy="281849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75320" y="1234440"/>
            <a:ext cx="3200400" cy="1234440"/>
          </a:xfrm>
          <a:prstGeom prst="roundRect">
            <a:avLst/>
          </a:prstGeom>
          <a:solidFill>
            <a:srgbClr val="FF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22208" y="1481328"/>
            <a:ext cx="2697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F48024"/>
                </a:solidFill>
                <a:latin typeface="Aptos"/>
              </a:rPr>
              <a:t>Biggest forward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22208" y="1810512"/>
            <a:ext cx="26974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252A34"/>
                </a:solidFill>
                <a:latin typeface="Aptos"/>
              </a:rPr>
              <a:t>Python leads desired use at 39.3%.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2724912"/>
            <a:ext cx="3200400" cy="228600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22208" y="2971800"/>
            <a:ext cx="269748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15A58A"/>
                </a:solidFill>
                <a:latin typeface="Aptos"/>
              </a:rPr>
              <a:t>What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8" y="3374136"/>
            <a:ext cx="201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80" b="1" i="0">
                <a:solidFill>
                  <a:srgbClr val="15A58A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364992"/>
            <a:ext cx="2395728" cy="4206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252A34"/>
                </a:solidFill>
                <a:latin typeface="Aptos"/>
              </a:rPr>
              <a:t>Rust and Go rank higher in desired use than current use.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8" y="3895344"/>
            <a:ext cx="201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80" b="1" i="0">
                <a:solidFill>
                  <a:srgbClr val="15A58A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886200"/>
            <a:ext cx="2395728" cy="4206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252A34"/>
                </a:solidFill>
                <a:latin typeface="Aptos"/>
              </a:rPr>
              <a:t>JavaScript leads current use, not next-skill intent.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4416552"/>
            <a:ext cx="201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80" b="1" i="0">
                <a:solidFill>
                  <a:srgbClr val="15A58A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4407408"/>
            <a:ext cx="2395728" cy="4206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252A34"/>
                </a:solidFill>
                <a:latin typeface="Aptos"/>
              </a:rPr>
              <a:t>Python connects AI, data and backend work.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656832"/>
            <a:ext cx="50292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80" b="1" i="0">
                <a:solidFill>
                  <a:srgbClr val="9299A8"/>
                </a:solidFill>
                <a:latin typeface="Aptos"/>
              </a:rPr>
              <a:t>DATA ANALYST CAPSTONE  •  2025 SURVEY EDITION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647688"/>
            <a:ext cx="45720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9299A8"/>
                </a:solidFill>
                <a:latin typeface="Aptos"/>
              </a:rPr>
              <a:t>9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14-48B4-018D-63EE-DF24A5A8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48024"/>
                </a:solidFill>
                <a:latin typeface="Apto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256032"/>
            <a:ext cx="102412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 i="0">
                <a:solidFill>
                  <a:srgbClr val="252A34"/>
                </a:solidFill>
                <a:latin typeface="Aptos Display"/>
              </a:rPr>
              <a:t>Programming trends — findings &amp; implications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77824"/>
            <a:ext cx="10874959" cy="10972"/>
          </a:xfrm>
          <a:prstGeom prst="rect">
            <a:avLst/>
          </a:prstGeom>
          <a:solidFill>
            <a:srgbClr val="6D5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" y="749808"/>
            <a:ext cx="102412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697386"/>
                </a:solidFill>
                <a:latin typeface="Aptos"/>
              </a:rPr>
              <a:t>TURNING RANKINGS INTO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10881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1">
                <a:solidFill>
                  <a:srgbClr val="697386"/>
                </a:solidFill>
                <a:latin typeface="Aptos"/>
              </a:rPr>
              <a:t>Source: Stack Overflow Developer Survey 2025, Technology + Developers pages (official published results).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170432"/>
            <a:ext cx="5349240" cy="5166360"/>
          </a:xfrm>
          <a:prstGeom prst="roundRect">
            <a:avLst/>
          </a:prstGeom>
          <a:solidFill>
            <a:srgbClr val="E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444752"/>
            <a:ext cx="45720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DA1FF"/>
                </a:solidFill>
                <a:latin typeface="Aptos"/>
              </a:rPr>
              <a:t>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01952"/>
            <a:ext cx="38404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DA1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901952"/>
            <a:ext cx="4160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252A34"/>
                </a:solidFill>
                <a:latin typeface="Aptos"/>
              </a:rPr>
              <a:t>Core languages still dominate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31136"/>
            <a:ext cx="40690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697386"/>
                </a:solidFill>
                <a:latin typeface="Aptos"/>
              </a:rPr>
              <a:t>JavaScript, HTML/CSS and SQL are the top current-use technologies.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136392"/>
            <a:ext cx="38404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DA1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136392"/>
            <a:ext cx="4160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252A34"/>
                </a:solidFill>
                <a:latin typeface="Aptos"/>
              </a:rPr>
              <a:t>Python is the clearest growth bet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465576"/>
            <a:ext cx="40690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697386"/>
                </a:solidFill>
                <a:latin typeface="Aptos"/>
              </a:rPr>
              <a:t>It ranks fourth in current use but first in desired use.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370832"/>
            <a:ext cx="38404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DA1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370832"/>
            <a:ext cx="4160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252A34"/>
                </a:solidFill>
                <a:latin typeface="Aptos"/>
              </a:rPr>
              <a:t>Systems languages are aspirational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700016"/>
            <a:ext cx="40690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697386"/>
                </a:solidFill>
                <a:latin typeface="Aptos"/>
              </a:rPr>
              <a:t>Rust and Go have stronger desired positions than current-use positions.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170432"/>
            <a:ext cx="5285232" cy="5166360"/>
          </a:xfrm>
          <a:prstGeom prst="roundRect">
            <a:avLst/>
          </a:prstGeom>
          <a:solidFill>
            <a:srgbClr val="FF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0528" y="1444752"/>
            <a:ext cx="45720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48024"/>
                </a:solidFill>
                <a:latin typeface="Aptos"/>
              </a:rPr>
              <a:t>Implications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1975103"/>
            <a:ext cx="201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48024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1965960"/>
            <a:ext cx="4224528" cy="4206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252A34"/>
                </a:solidFill>
                <a:latin typeface="Aptos"/>
              </a:rPr>
              <a:t>Teach SQL and web fundamentals as the base layer, not as optional extras.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3145535"/>
            <a:ext cx="201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48024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136391"/>
            <a:ext cx="4224528" cy="4206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252A34"/>
                </a:solidFill>
                <a:latin typeface="Aptos"/>
              </a:rPr>
              <a:t>Use Python projects to connect data analysis, automation and AI.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315968"/>
            <a:ext cx="201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48024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306824"/>
            <a:ext cx="4224528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252A34"/>
                </a:solidFill>
                <a:latin typeface="Aptos"/>
              </a:rPr>
              <a:t>Offer Rust or Go as a deliberate specialization after learners have shipped with one mainstream stack.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656832"/>
            <a:ext cx="50292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80" b="1" i="0">
                <a:solidFill>
                  <a:srgbClr val="9299A8"/>
                </a:solidFill>
                <a:latin typeface="Aptos"/>
              </a:rPr>
              <a:t>DATA ANALYST CAPSTONE  •  2025 SURVEY EDITION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647688"/>
            <a:ext cx="45720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9299A8"/>
                </a:solidFill>
                <a:latin typeface="Aptos"/>
              </a:rPr>
              <a:t>10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1288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F35-C02C-0C12-3664-049CAC5A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48024"/>
                </a:solidFill>
                <a:latin typeface="Apto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256032"/>
            <a:ext cx="102412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 i="0">
                <a:solidFill>
                  <a:srgbClr val="252A34"/>
                </a:solidFill>
                <a:latin typeface="Aptos Display"/>
              </a:rPr>
              <a:t>Database trends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77824"/>
            <a:ext cx="10874959" cy="10972"/>
          </a:xfrm>
          <a:prstGeom prst="rect">
            <a:avLst/>
          </a:prstGeom>
          <a:solidFill>
            <a:srgbClr val="6D5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" y="749808"/>
            <a:ext cx="102412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697386"/>
                </a:solidFill>
                <a:latin typeface="Aptos"/>
              </a:rPr>
              <a:t>CURRENT USE VS DESIRED NEXT-YEAR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10881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1">
                <a:solidFill>
                  <a:srgbClr val="697386"/>
                </a:solidFill>
                <a:latin typeface="Aptos"/>
              </a:rPr>
              <a:t>Source: Stack Overflow Developer Survey 2025, Technology + Developers pages (official published results).</a:t>
            </a:r>
          </a:p>
        </p:txBody>
      </p:sp>
      <p:pic>
        <p:nvPicPr>
          <p:cNvPr id="8" name="Picture 7" descr="04_database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143000"/>
            <a:ext cx="7315200" cy="281849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75320" y="1234440"/>
            <a:ext cx="3200400" cy="1234440"/>
          </a:xfrm>
          <a:prstGeom prst="roundRect">
            <a:avLst/>
          </a:prstGeom>
          <a:solidFill>
            <a:srgbClr val="E3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22208" y="1481328"/>
            <a:ext cx="2697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5A58A"/>
                </a:solidFill>
                <a:latin typeface="Aptos"/>
              </a:rPr>
              <a:t>Anchor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22208" y="1810512"/>
            <a:ext cx="26974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252A34"/>
                </a:solidFill>
                <a:latin typeface="Aptos"/>
              </a:rPr>
              <a:t>PostgreSQL leads both sides.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2724912"/>
            <a:ext cx="3200400" cy="228600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22208" y="2971800"/>
            <a:ext cx="269748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6D5BD0"/>
                </a:solidFill>
                <a:latin typeface="Aptos"/>
              </a:rPr>
              <a:t>What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8" y="3374136"/>
            <a:ext cx="201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80" b="1" i="0">
                <a:solidFill>
                  <a:srgbClr val="6D5BD0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364992"/>
            <a:ext cx="2395728" cy="4206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252A34"/>
                </a:solidFill>
                <a:latin typeface="Aptos"/>
              </a:rPr>
              <a:t>Stack Overflow highlights Redis usage growth.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8" y="3895344"/>
            <a:ext cx="201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80" b="1" i="0">
                <a:solidFill>
                  <a:srgbClr val="6D5BD0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886200"/>
            <a:ext cx="2395728" cy="4206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252A34"/>
                </a:solidFill>
                <a:latin typeface="Aptos"/>
              </a:rPr>
              <a:t>SQLite and Redis rise in desired use relative to MySQL.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4416552"/>
            <a:ext cx="201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80" b="1" i="0">
                <a:solidFill>
                  <a:srgbClr val="6D5BD0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4407408"/>
            <a:ext cx="2395728" cy="4206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252A34"/>
                </a:solidFill>
                <a:latin typeface="Aptos"/>
              </a:rPr>
              <a:t>PostgreSQL is the safest common denominator for a modern data stack.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656832"/>
            <a:ext cx="50292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80" b="1" i="0">
                <a:solidFill>
                  <a:srgbClr val="9299A8"/>
                </a:solidFill>
                <a:latin typeface="Aptos"/>
              </a:rPr>
              <a:t>DATA ANALYST CAPSTONE  •  2025 SURVEY EDITION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647688"/>
            <a:ext cx="45720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9299A8"/>
                </a:solidFill>
                <a:latin typeface="Aptos"/>
              </a:rPr>
              <a:t>11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2887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6A9C-70D0-119E-38BE-1738DA5A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48024"/>
                </a:solidFill>
                <a:latin typeface="Apto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256032"/>
            <a:ext cx="102412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 i="0">
                <a:solidFill>
                  <a:srgbClr val="252A34"/>
                </a:solidFill>
                <a:latin typeface="Aptos Display"/>
              </a:rPr>
              <a:t>Database trends — findings &amp; implications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77824"/>
            <a:ext cx="10874959" cy="10972"/>
          </a:xfrm>
          <a:prstGeom prst="rect">
            <a:avLst/>
          </a:prstGeom>
          <a:solidFill>
            <a:srgbClr val="6D5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" y="749808"/>
            <a:ext cx="102412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697386"/>
                </a:solidFill>
                <a:latin typeface="Aptos"/>
              </a:rPr>
              <a:t>DURABLE DATA SKILLS BEAT TOOL CHASING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10881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1">
                <a:solidFill>
                  <a:srgbClr val="697386"/>
                </a:solidFill>
                <a:latin typeface="Aptos"/>
              </a:rPr>
              <a:t>Source: Stack Overflow Developer Survey 2025, Technology + Developers pages (official published results).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170432"/>
            <a:ext cx="5349240" cy="5166360"/>
          </a:xfrm>
          <a:prstGeom prst="roundRect">
            <a:avLst/>
          </a:prstGeom>
          <a:solidFill>
            <a:srgbClr val="E3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444752"/>
            <a:ext cx="45720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5A58A"/>
                </a:solidFill>
                <a:latin typeface="Aptos"/>
              </a:rPr>
              <a:t>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01952"/>
            <a:ext cx="38404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5A58A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901952"/>
            <a:ext cx="4160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252A34"/>
                </a:solidFill>
                <a:latin typeface="Aptos"/>
              </a:rPr>
              <a:t>Relational skills remain central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31136"/>
            <a:ext cx="40690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697386"/>
                </a:solidFill>
                <a:latin typeface="Aptos"/>
              </a:rPr>
              <a:t>PostgreSQL, MySQL and SQLite form the current-use core.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136392"/>
            <a:ext cx="38404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5A58A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136392"/>
            <a:ext cx="4160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252A34"/>
                </a:solidFill>
                <a:latin typeface="Aptos"/>
              </a:rPr>
              <a:t>PostgreSQL has unusual strength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465576"/>
            <a:ext cx="40690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697386"/>
                </a:solidFill>
                <a:latin typeface="Aptos"/>
              </a:rPr>
              <a:t>It is both the most used and most desired database.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370832"/>
            <a:ext cx="38404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5A58A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370832"/>
            <a:ext cx="4160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252A34"/>
                </a:solidFill>
                <a:latin typeface="Aptos"/>
              </a:rPr>
              <a:t>Caching and lightweight stores matter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700016"/>
            <a:ext cx="40690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697386"/>
                </a:solidFill>
                <a:latin typeface="Aptos"/>
              </a:rPr>
              <a:t>Redis and SQLite show strong forward interest.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170432"/>
            <a:ext cx="5285232" cy="5166360"/>
          </a:xfrm>
          <a:prstGeom prst="roundRect">
            <a:avLst/>
          </a:prstGeom>
          <a:solidFill>
            <a:srgbClr val="EE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0528" y="1444752"/>
            <a:ext cx="45720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6D5BD0"/>
                </a:solidFill>
                <a:latin typeface="Aptos"/>
              </a:rPr>
              <a:t>Implications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1975103"/>
            <a:ext cx="201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6D5BD0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1965960"/>
            <a:ext cx="4224528" cy="4206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252A34"/>
                </a:solidFill>
                <a:latin typeface="Aptos"/>
              </a:rPr>
              <a:t>Make relational modeling, joins and indexing the baseline.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3145535"/>
            <a:ext cx="201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6D5BD0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136391"/>
            <a:ext cx="4224528" cy="4206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252A34"/>
                </a:solidFill>
                <a:latin typeface="Aptos"/>
              </a:rPr>
              <a:t>Add PostgreSQL as the default portfolio database for learners.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315968"/>
            <a:ext cx="201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6D5BD0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306824"/>
            <a:ext cx="4224528" cy="4206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252A34"/>
                </a:solidFill>
                <a:latin typeface="Aptos"/>
              </a:rPr>
              <a:t>Teach Redis and SQLite as focused tools with clear use cases, not as replacement fundamentals.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656832"/>
            <a:ext cx="50292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80" b="1" i="0">
                <a:solidFill>
                  <a:srgbClr val="9299A8"/>
                </a:solidFill>
                <a:latin typeface="Aptos"/>
              </a:rPr>
              <a:t>DATA ANALYST CAPSTONE  •  2025 SURVEY EDITION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647688"/>
            <a:ext cx="45720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9299A8"/>
                </a:solidFill>
                <a:latin typeface="Aptos"/>
              </a:rPr>
              <a:t>12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8125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291F-E27C-74F8-33D3-FF131FC9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48024"/>
                </a:solidFill>
                <a:latin typeface="Apto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256032"/>
            <a:ext cx="102412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 i="0">
                <a:solidFill>
                  <a:srgbClr val="252A34"/>
                </a:solidFill>
                <a:latin typeface="Aptos Display"/>
              </a:rPr>
              <a:t>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77824"/>
            <a:ext cx="10874959" cy="10972"/>
          </a:xfrm>
          <a:prstGeom prst="rect">
            <a:avLst/>
          </a:prstGeom>
          <a:solidFill>
            <a:srgbClr val="6D5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" y="749808"/>
            <a:ext cx="102412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697386"/>
                </a:solidFill>
                <a:latin typeface="Aptos"/>
              </a:rPr>
              <a:t>THREE VIEWS FOR THREE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10881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1">
                <a:solidFill>
                  <a:srgbClr val="697386"/>
                </a:solidFill>
                <a:latin typeface="Aptos"/>
              </a:rPr>
              <a:t>Source: Stack Overflow Developer Survey 2025, Technology + Developers pages (official published results).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280160"/>
            <a:ext cx="6400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252A34"/>
                </a:solidFill>
                <a:latin typeface="Aptos Display"/>
              </a:rPr>
              <a:t>A dashboard should answer a question, not just display a chart.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64008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697386"/>
                </a:solidFill>
                <a:latin typeface="Aptos"/>
              </a:rPr>
              <a:t>These tabs separate what is widely used, what developers want next and who is represented in the survey.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971800"/>
            <a:ext cx="10607040" cy="749808"/>
          </a:xfrm>
          <a:prstGeom prst="roundRect">
            <a:avLst/>
          </a:prstGeom>
          <a:solidFill>
            <a:srgbClr val="E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24712" y="3136392"/>
            <a:ext cx="7772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DA1FF"/>
                </a:solidFill>
                <a:latin typeface="Aptos"/>
              </a:rPr>
              <a:t>TAB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099816"/>
            <a:ext cx="297180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252A34"/>
                </a:solidFill>
                <a:latin typeface="Aptos"/>
              </a:rPr>
              <a:t>Current technology usage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3118104"/>
            <a:ext cx="53949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697386"/>
                </a:solidFill>
                <a:latin typeface="Aptos"/>
              </a:rPr>
              <a:t>What is already common enough to be a baseline?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941064"/>
            <a:ext cx="10607040" cy="749808"/>
          </a:xfrm>
          <a:prstGeom prst="roundRect">
            <a:avLst/>
          </a:prstGeom>
          <a:solidFill>
            <a:srgbClr val="FF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24712" y="4105656"/>
            <a:ext cx="7772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48024"/>
                </a:solidFill>
                <a:latin typeface="Aptos"/>
              </a:rPr>
              <a:t>TAB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069080"/>
            <a:ext cx="297180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252A34"/>
                </a:solidFill>
                <a:latin typeface="Aptos"/>
              </a:rPr>
              <a:t>Future technology trends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4087368"/>
            <a:ext cx="53949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697386"/>
                </a:solidFill>
                <a:latin typeface="Aptos"/>
              </a:rPr>
              <a:t>Where is learning interest moving next?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910328"/>
            <a:ext cx="10607040" cy="749808"/>
          </a:xfrm>
          <a:prstGeom prst="roundRect">
            <a:avLst/>
          </a:prstGeom>
          <a:solidFill>
            <a:srgbClr val="EE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24712" y="5074920"/>
            <a:ext cx="7772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6D5BD0"/>
                </a:solidFill>
                <a:latin typeface="Aptos"/>
              </a:rPr>
              <a:t>TAB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5038344"/>
            <a:ext cx="297180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252A34"/>
                </a:solidFill>
                <a:latin typeface="Aptos"/>
              </a:rPr>
              <a:t>Demographics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5056632"/>
            <a:ext cx="53949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697386"/>
                </a:solidFill>
                <a:latin typeface="Aptos"/>
              </a:rPr>
              <a:t>Who answered, and what context matters?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656832"/>
            <a:ext cx="50292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80" b="1" i="0">
                <a:solidFill>
                  <a:srgbClr val="9299A8"/>
                </a:solidFill>
                <a:latin typeface="Aptos"/>
              </a:rPr>
              <a:t>DATA ANALYST CAPSTONE  •  2025 SURVEY EDITION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647688"/>
            <a:ext cx="45720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9299A8"/>
                </a:solidFill>
                <a:latin typeface="Aptos"/>
              </a:rPr>
              <a:t>13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219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F0CA-55D1-0835-20D4-03D017A1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48024"/>
                </a:solidFill>
                <a:latin typeface="Aptos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256032"/>
            <a:ext cx="102412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 i="0">
                <a:solidFill>
                  <a:srgbClr val="252A34"/>
                </a:solidFill>
                <a:latin typeface="Aptos Display"/>
              </a:rPr>
              <a:t>Dashboard tab 1: Current technology usage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77824"/>
            <a:ext cx="10874959" cy="10972"/>
          </a:xfrm>
          <a:prstGeom prst="rect">
            <a:avLst/>
          </a:prstGeom>
          <a:solidFill>
            <a:srgbClr val="6D5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" y="749808"/>
            <a:ext cx="102412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697386"/>
                </a:solidFill>
                <a:latin typeface="Aptos"/>
              </a:rPr>
              <a:t>WHAT FORMS THE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10881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1">
                <a:solidFill>
                  <a:srgbClr val="697386"/>
                </a:solidFill>
                <a:latin typeface="Aptos"/>
              </a:rPr>
              <a:t>Source: Stack Overflow Developer Survey 2025, Technology + Developers pages (official published results).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124712"/>
            <a:ext cx="2286000" cy="960120"/>
          </a:xfrm>
          <a:prstGeom prst="roundRect">
            <a:avLst/>
          </a:prstGeom>
          <a:solidFill>
            <a:srgbClr val="E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243584"/>
            <a:ext cx="20116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1DA1FF"/>
                </a:solidFill>
                <a:latin typeface="Aptos Display"/>
              </a:rPr>
              <a:t>66.0%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709928"/>
            <a:ext cx="2011680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697386"/>
                </a:solidFill>
                <a:latin typeface="Aptos"/>
              </a:rPr>
              <a:t>JavaScript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27248" y="1124712"/>
            <a:ext cx="2286000" cy="960120"/>
          </a:xfrm>
          <a:prstGeom prst="roundRect">
            <a:avLst/>
          </a:prstGeom>
          <a:solidFill>
            <a:srgbClr val="E3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73552" y="1243584"/>
            <a:ext cx="20116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15A58A"/>
                </a:solidFill>
                <a:latin typeface="Aptos Display"/>
              </a:rPr>
              <a:t>55.6%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1709928"/>
            <a:ext cx="2011680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697386"/>
                </a:solidFill>
                <a:latin typeface="Aptos"/>
              </a:rPr>
              <a:t>PostgreSQL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96128" y="1124712"/>
            <a:ext cx="2286000" cy="960120"/>
          </a:xfrm>
          <a:prstGeom prst="roundRect">
            <a:avLst/>
          </a:prstGeom>
          <a:solidFill>
            <a:srgbClr val="EE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42432" y="1243584"/>
            <a:ext cx="20116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6D5BD0"/>
                </a:solidFill>
                <a:latin typeface="Aptos Display"/>
              </a:rPr>
              <a:t>58.6%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42432" y="1709928"/>
            <a:ext cx="2011680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697386"/>
                </a:solidFill>
                <a:latin typeface="Aptos"/>
              </a:rPr>
              <a:t>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124712"/>
            <a:ext cx="2286000" cy="960120"/>
          </a:xfrm>
          <a:prstGeom prst="roundRect">
            <a:avLst/>
          </a:prstGeom>
          <a:solidFill>
            <a:srgbClr val="FF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1312" y="1243584"/>
            <a:ext cx="20116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48024"/>
                </a:solidFill>
                <a:latin typeface="Aptos Display"/>
              </a:rPr>
              <a:t>57.9%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1709928"/>
            <a:ext cx="2011680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697386"/>
                </a:solidFill>
                <a:latin typeface="Aptos"/>
              </a:rPr>
              <a:t>Python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2395728"/>
            <a:ext cx="7178040" cy="3493008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07_current_langu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24328"/>
            <a:ext cx="6720840" cy="4235288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8092440" y="2395728"/>
            <a:ext cx="3429000" cy="3493008"/>
          </a:xfrm>
          <a:prstGeom prst="roundRect">
            <a:avLst/>
          </a:prstGeom>
          <a:solidFill>
            <a:srgbClr val="17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66760" y="2706624"/>
            <a:ext cx="28346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A8B3C8"/>
                </a:solidFill>
                <a:latin typeface="Aptos"/>
              </a:rPr>
              <a:t>Dashboard insight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108960"/>
            <a:ext cx="2743200" cy="1508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ptos Display"/>
              </a:rPr>
              <a:t>Baseline = web + data: JavaScript, HTML/CSS and SQL, with Python close behind.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5413248"/>
            <a:ext cx="27432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C9D2E3"/>
                </a:solidFill>
                <a:latin typeface="Aptos"/>
              </a:rPr>
              <a:t>Design implication: teach across the stack.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656832"/>
            <a:ext cx="50292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80" b="1" i="0">
                <a:solidFill>
                  <a:srgbClr val="9299A8"/>
                </a:solidFill>
                <a:latin typeface="Aptos"/>
              </a:rPr>
              <a:t>DATA ANALYST CAPSTONE  •  2025 SURVEY EDITION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647688"/>
            <a:ext cx="45720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9299A8"/>
                </a:solidFill>
                <a:latin typeface="Aptos"/>
              </a:rPr>
              <a:t>14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9736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F23D-B8D7-D0E4-EDC5-E0F02388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48024"/>
                </a:solidFill>
                <a:latin typeface="Aptos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256032"/>
            <a:ext cx="102412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 i="0">
                <a:solidFill>
                  <a:srgbClr val="252A34"/>
                </a:solidFill>
                <a:latin typeface="Aptos Display"/>
              </a:rPr>
              <a:t>Dashboard tab 2: Future technology trends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77824"/>
            <a:ext cx="10874959" cy="10972"/>
          </a:xfrm>
          <a:prstGeom prst="rect">
            <a:avLst/>
          </a:prstGeom>
          <a:solidFill>
            <a:srgbClr val="6D5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" y="749808"/>
            <a:ext cx="102412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697386"/>
                </a:solidFill>
                <a:latin typeface="Aptos"/>
              </a:rPr>
              <a:t>WHAT DEVELOPERS WANT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10881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1">
                <a:solidFill>
                  <a:srgbClr val="697386"/>
                </a:solidFill>
                <a:latin typeface="Aptos"/>
              </a:rPr>
              <a:t>Source: Stack Overflow Developer Survey 2025, Technology + Developers pages (official published results).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124712"/>
            <a:ext cx="7086600" cy="484632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8_desired_langu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71600"/>
            <a:ext cx="6629400" cy="417766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001000" y="1124712"/>
            <a:ext cx="3520440" cy="1234440"/>
          </a:xfrm>
          <a:prstGeom prst="roundRect">
            <a:avLst/>
          </a:prstGeom>
          <a:solidFill>
            <a:srgbClr val="FF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1371600"/>
            <a:ext cx="28346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48024"/>
                </a:solidFill>
                <a:latin typeface="Aptos"/>
              </a:rPr>
              <a:t>Strongest next-skill bets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700784"/>
            <a:ext cx="2880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252A34"/>
                </a:solidFill>
                <a:latin typeface="Aptos"/>
              </a:rPr>
              <a:t>Python  •  SQL  •  Rust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651760"/>
            <a:ext cx="3520440" cy="3319272"/>
          </a:xfrm>
          <a:prstGeom prst="roundRect">
            <a:avLst/>
          </a:prstGeom>
          <a:solidFill>
            <a:srgbClr val="EE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2926080"/>
            <a:ext cx="28346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6D5BD0"/>
                </a:solidFill>
                <a:latin typeface="Aptos"/>
              </a:rPr>
              <a:t>Dashboard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291840"/>
            <a:ext cx="2834640" cy="1737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252A34"/>
                </a:solidFill>
                <a:latin typeface="Aptos Display"/>
              </a:rPr>
              <a:t>Interest is not simply following current popularity. Developers are reaching toward Python for AI/data work and toward Rust/Go for systems and backend depth.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656832"/>
            <a:ext cx="50292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80" b="1" i="0">
                <a:solidFill>
                  <a:srgbClr val="9299A8"/>
                </a:solidFill>
                <a:latin typeface="Aptos"/>
              </a:rPr>
              <a:t>DATA ANALYST CAPSTONE  •  2025 SURVEY EDITION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647688"/>
            <a:ext cx="45720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9299A8"/>
                </a:solidFill>
                <a:latin typeface="Aptos"/>
              </a:rPr>
              <a:t>15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8496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10D3-267F-7A90-5160-775BFEBC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48024"/>
                </a:solidFill>
                <a:latin typeface="Aptos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256032"/>
            <a:ext cx="102412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 i="0">
                <a:solidFill>
                  <a:srgbClr val="252A34"/>
                </a:solidFill>
                <a:latin typeface="Aptos Display"/>
              </a:rPr>
              <a:t>Dashboard tab 3: Demographics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77824"/>
            <a:ext cx="10874959" cy="10972"/>
          </a:xfrm>
          <a:prstGeom prst="rect">
            <a:avLst/>
          </a:prstGeom>
          <a:solidFill>
            <a:srgbClr val="6D5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" y="749808"/>
            <a:ext cx="102412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697386"/>
                </a:solidFill>
                <a:latin typeface="Aptos"/>
              </a:rPr>
              <a:t>WHO ANSWERED THE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10881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1">
                <a:solidFill>
                  <a:srgbClr val="697386"/>
                </a:solidFill>
                <a:latin typeface="Aptos"/>
              </a:rPr>
              <a:t>Source: Stack Overflow Developer Survey 2025, Developers page; age n=49,019, country n=35,307, roles n=43,560.</a:t>
            </a:r>
          </a:p>
        </p:txBody>
      </p:sp>
      <p:pic>
        <p:nvPicPr>
          <p:cNvPr id="8" name="Picture 7" descr="05_demograph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143000"/>
            <a:ext cx="6812280" cy="2107419"/>
          </a:xfrm>
          <a:prstGeom prst="rect">
            <a:avLst/>
          </a:prstGeom>
        </p:spPr>
      </p:pic>
      <p:pic>
        <p:nvPicPr>
          <p:cNvPr id="9" name="Picture 8" descr="06_countri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248" y="1234440"/>
            <a:ext cx="3794760" cy="250803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99248" y="4681728"/>
            <a:ext cx="3794760" cy="123444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79" y="4937760"/>
            <a:ext cx="3246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6D5BD0"/>
                </a:solidFill>
                <a:latin typeface="Aptos"/>
              </a:rPr>
              <a:t>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5285232"/>
            <a:ext cx="3246120" cy="6035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252A34"/>
                </a:solidFill>
                <a:latin typeface="Aptos"/>
              </a:rPr>
              <a:t>The largest age band is 25–34 (33.6%). The United States is the largest country group (20.4%).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656832"/>
            <a:ext cx="50292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80" b="1" i="0">
                <a:solidFill>
                  <a:srgbClr val="9299A8"/>
                </a:solidFill>
                <a:latin typeface="Aptos"/>
              </a:rPr>
              <a:t>DATA ANALYST CAPSTONE  •  2025 SURVEY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647688"/>
            <a:ext cx="45720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9299A8"/>
                </a:solidFill>
                <a:latin typeface="Aptos"/>
              </a:rPr>
              <a:t>16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5636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2C0A-56EF-B349-A097-27B4D460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48024"/>
                </a:solidFill>
                <a:latin typeface="Aptos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256032"/>
            <a:ext cx="102412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 i="0">
                <a:solidFill>
                  <a:srgbClr val="252A34"/>
                </a:solidFill>
                <a:latin typeface="Aptos Display"/>
              </a:rPr>
              <a:t>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77824"/>
            <a:ext cx="10874959" cy="10972"/>
          </a:xfrm>
          <a:prstGeom prst="rect">
            <a:avLst/>
          </a:prstGeom>
          <a:solidFill>
            <a:srgbClr val="6D5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" y="749808"/>
            <a:ext cx="102412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697386"/>
                </a:solidFill>
                <a:latin typeface="Aptos"/>
              </a:rPr>
              <a:t>HOW THE SIGNALS FIT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10881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1">
                <a:solidFill>
                  <a:srgbClr val="697386"/>
                </a:solidFill>
                <a:latin typeface="Aptos"/>
              </a:rPr>
              <a:t>Source: Stack Overflow Developer Survey 2025, Technology + Developers pages (official published results).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234440"/>
            <a:ext cx="1828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697386"/>
                </a:solidFill>
                <a:latin typeface="Aptos"/>
              </a:rPr>
              <a:t>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234440"/>
            <a:ext cx="4297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697386"/>
                </a:solidFill>
                <a:latin typeface="Aptos"/>
              </a:rPr>
              <a:t>WHAT WE SEE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1234440"/>
            <a:ext cx="3749039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697386"/>
                </a:solidFill>
                <a:latin typeface="Aptos"/>
              </a:rPr>
              <a:t>WHAT TO 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627632"/>
            <a:ext cx="10789920" cy="804672"/>
          </a:xfrm>
          <a:prstGeom prst="roundRect">
            <a:avLst/>
          </a:prstGeom>
          <a:solidFill>
            <a:srgbClr val="E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865376"/>
            <a:ext cx="1600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252A34"/>
                </a:solidFill>
                <a:latin typeface="Aptos"/>
              </a:rPr>
              <a:t>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1792224"/>
            <a:ext cx="42062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252A34"/>
                </a:solidFill>
                <a:latin typeface="Aptos"/>
              </a:rPr>
              <a:t>JavaScript, HTML/CSS, SQL and PostgreSQL are widely used.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1792224"/>
            <a:ext cx="37033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252A34"/>
                </a:solidFill>
                <a:latin typeface="Aptos"/>
              </a:rPr>
              <a:t>Build fundamentals around web +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2651760"/>
            <a:ext cx="10789920" cy="804672"/>
          </a:xfrm>
          <a:prstGeom prst="roundRect">
            <a:avLst/>
          </a:prstGeom>
          <a:solidFill>
            <a:srgbClr val="FF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2889504"/>
            <a:ext cx="1600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252A34"/>
                </a:solidFill>
                <a:latin typeface="Aptos"/>
              </a:rPr>
              <a:t>Momentum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816352"/>
            <a:ext cx="42062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252A34"/>
                </a:solidFill>
                <a:latin typeface="Aptos"/>
              </a:rPr>
              <a:t>Python leads desired language use; Redis is highlighted for growth.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816352"/>
            <a:ext cx="37033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252A34"/>
                </a:solidFill>
                <a:latin typeface="Aptos"/>
              </a:rPr>
              <a:t>Use project-based Python and data 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675888"/>
            <a:ext cx="10789920" cy="804672"/>
          </a:xfrm>
          <a:prstGeom prst="roundRect">
            <a:avLst/>
          </a:prstGeom>
          <a:solidFill>
            <a:srgbClr val="EE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3913632"/>
            <a:ext cx="1600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252A34"/>
                </a:solidFill>
                <a:latin typeface="Aptos"/>
              </a:rPr>
              <a:t>Specialization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840480"/>
            <a:ext cx="42062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252A34"/>
                </a:solidFill>
                <a:latin typeface="Aptos"/>
              </a:rPr>
              <a:t>Rust and Go sit higher in desired use than current use.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3840480"/>
            <a:ext cx="37033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252A34"/>
                </a:solidFill>
                <a:latin typeface="Aptos"/>
              </a:rPr>
              <a:t>Offer focused pathways after the core.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700016"/>
            <a:ext cx="10789920" cy="80467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4937760"/>
            <a:ext cx="1600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252A34"/>
                </a:solidFill>
                <a:latin typeface="Aptos"/>
              </a:rPr>
              <a:t>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4864608"/>
            <a:ext cx="42062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252A34"/>
                </a:solidFill>
                <a:latin typeface="Aptos"/>
              </a:rPr>
              <a:t>The job and salary labs are smaller and older teaching datasets.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4864608"/>
            <a:ext cx="37033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252A34"/>
                </a:solidFill>
                <a:latin typeface="Aptos"/>
              </a:rPr>
              <a:t>Use them to practice analysis, not to overclaim.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5897880"/>
            <a:ext cx="10789920" cy="384048"/>
          </a:xfrm>
          <a:prstGeom prst="roundRect">
            <a:avLst/>
          </a:prstGeom>
          <a:solidFill>
            <a:srgbClr val="17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980176"/>
            <a:ext cx="101955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Best interpretation: learn what is common, then differentiate with skills that are gaining intent.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656832"/>
            <a:ext cx="50292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80" b="1" i="0">
                <a:solidFill>
                  <a:srgbClr val="9299A8"/>
                </a:solidFill>
                <a:latin typeface="Aptos"/>
              </a:rPr>
              <a:t>DATA ANALYST CAPSTONE  •  2025 SURVEY EDITION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647688"/>
            <a:ext cx="45720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9299A8"/>
                </a:solidFill>
                <a:latin typeface="Aptos"/>
              </a:rPr>
              <a:t>17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7333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5330-0589-A550-601A-037CA416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48024"/>
                </a:solidFill>
                <a:latin typeface="Aptos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256032"/>
            <a:ext cx="102412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 i="0">
                <a:solidFill>
                  <a:srgbClr val="252A34"/>
                </a:solidFill>
                <a:latin typeface="Aptos Display"/>
              </a:rPr>
              <a:t>Overall findings &amp; implications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77824"/>
            <a:ext cx="10874959" cy="10972"/>
          </a:xfrm>
          <a:prstGeom prst="rect">
            <a:avLst/>
          </a:prstGeom>
          <a:solidFill>
            <a:srgbClr val="6D5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" y="749808"/>
            <a:ext cx="102412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697386"/>
                </a:solidFill>
                <a:latin typeface="Aptos"/>
              </a:rPr>
              <a:t>THREE FINDINGS WORTH CARRYING FORWARD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47104"/>
            <a:ext cx="108813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1">
                <a:solidFill>
                  <a:srgbClr val="697386"/>
                </a:solidFill>
                <a:latin typeface="Aptos"/>
              </a:rPr>
              <a:t>Source: Stack Overflow Developer Survey 2025, Technology + Developers pages (official published results).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25880"/>
            <a:ext cx="3337560" cy="3931920"/>
          </a:xfrm>
          <a:prstGeom prst="roundRect">
            <a:avLst/>
          </a:prstGeom>
          <a:solidFill>
            <a:srgbClr val="E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27632"/>
            <a:ext cx="365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DA1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27432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252A34"/>
                </a:solidFill>
                <a:latin typeface="Aptos Display"/>
              </a:rPr>
              <a:t>Fundamentals compound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2743200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697386"/>
                </a:solidFill>
                <a:latin typeface="Aptos"/>
              </a:rPr>
              <a:t>The most-used technologies are still foundational. SQL, web skills and relational databases remain high-leverage.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2697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1DA1FF"/>
                </a:solidFill>
                <a:latin typeface="Aptos"/>
              </a:rPr>
              <a:t>IMPLICATION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325880"/>
            <a:ext cx="3337560" cy="3931920"/>
          </a:xfrm>
          <a:prstGeom prst="roundRect">
            <a:avLst/>
          </a:prstGeom>
          <a:solidFill>
            <a:srgbClr val="FF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1627632"/>
            <a:ext cx="365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48024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148840"/>
            <a:ext cx="27432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252A34"/>
                </a:solidFill>
                <a:latin typeface="Aptos Display"/>
              </a:rPr>
              <a:t>Intent points to 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108960"/>
            <a:ext cx="2743200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697386"/>
                </a:solidFill>
                <a:latin typeface="Aptos"/>
              </a:rPr>
              <a:t>Python is the clearest bridge between today’s stack and emerging AI, data and automation 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709160"/>
            <a:ext cx="2697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F48024"/>
                </a:solidFill>
                <a:latin typeface="Aptos"/>
              </a:rPr>
              <a:t>IMPLICATION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1325880"/>
            <a:ext cx="3337560" cy="3931920"/>
          </a:xfrm>
          <a:prstGeom prst="roundRect">
            <a:avLst/>
          </a:prstGeom>
          <a:solidFill>
            <a:srgbClr val="EE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1627632"/>
            <a:ext cx="365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6D5BD0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148840"/>
            <a:ext cx="27432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252A34"/>
                </a:solidFill>
                <a:latin typeface="Aptos Display"/>
              </a:rPr>
              <a:t>Depth creates differentiation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108960"/>
            <a:ext cx="2743200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697386"/>
                </a:solidFill>
                <a:latin typeface="Aptos"/>
              </a:rPr>
              <a:t>Rust, Go, Redis and PostgreSQL show where developers are adding depth beyond the baseline.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709160"/>
            <a:ext cx="2697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6D5BD0"/>
                </a:solidFill>
                <a:latin typeface="Aptos"/>
              </a:rPr>
              <a:t>IMPLICATION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559552"/>
            <a:ext cx="10881360" cy="566928"/>
          </a:xfrm>
          <a:prstGeom prst="roundRect">
            <a:avLst/>
          </a:prstGeom>
          <a:solidFill>
            <a:srgbClr val="17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2" y="5724144"/>
            <a:ext cx="10287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Recommendation: teach the common core, make Python the applied bridge, and let specialization follow the learner’s target role.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656832"/>
            <a:ext cx="50292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80" b="1" i="0">
                <a:solidFill>
                  <a:srgbClr val="9299A8"/>
                </a:solidFill>
                <a:latin typeface="Aptos"/>
              </a:rPr>
              <a:t>DATA ANALYST CAPSTONE  •  2025 SURVEY EDITION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647688"/>
            <a:ext cx="45720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9299A8"/>
                </a:solidFill>
                <a:latin typeface="Aptos"/>
              </a:rPr>
              <a:t>18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5637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A16F-6AB5-5C0B-5466-65B2A6AE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48024"/>
                </a:solidFill>
                <a:latin typeface="Aptos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256032"/>
            <a:ext cx="102412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 i="0">
                <a:solidFill>
                  <a:srgbClr val="252A34"/>
                </a:solidFill>
                <a:latin typeface="Aptos Display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77824"/>
            <a:ext cx="10874959" cy="10972"/>
          </a:xfrm>
          <a:prstGeom prst="rect">
            <a:avLst/>
          </a:prstGeom>
          <a:solidFill>
            <a:srgbClr val="6D5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" y="749808"/>
            <a:ext cx="102412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697386"/>
                </a:solidFill>
                <a:latin typeface="Aptos"/>
              </a:rPr>
              <a:t>A PRACTICAL LEARNING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298448"/>
            <a:ext cx="54864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252A34"/>
                </a:solidFill>
                <a:latin typeface="Aptos Display"/>
              </a:rPr>
              <a:t>Start broad. Build depth. Make the next step visible.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423160"/>
            <a:ext cx="3154680" cy="2103120"/>
          </a:xfrm>
          <a:prstGeom prst="roundRect">
            <a:avLst/>
          </a:prstGeom>
          <a:solidFill>
            <a:srgbClr val="E6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2706624"/>
            <a:ext cx="411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1DA1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200400"/>
            <a:ext cx="26517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252A34"/>
                </a:solidFill>
                <a:latin typeface="Aptos"/>
              </a:rPr>
              <a:t>Build the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3730752"/>
            <a:ext cx="26517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697386"/>
                </a:solidFill>
                <a:latin typeface="Aptos"/>
              </a:rPr>
              <a:t>SQL + web fundamentals + one mainstream language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2423160"/>
            <a:ext cx="3154680" cy="2103120"/>
          </a:xfrm>
          <a:prstGeom prst="roundRect">
            <a:avLst/>
          </a:prstGeom>
          <a:solidFill>
            <a:srgbClr val="FF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706624"/>
            <a:ext cx="411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F48024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200400"/>
            <a:ext cx="26517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252A34"/>
                </a:solidFill>
                <a:latin typeface="Aptos"/>
              </a:rPr>
              <a:t>Apply with 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730752"/>
            <a:ext cx="26517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697386"/>
                </a:solidFill>
                <a:latin typeface="Aptos"/>
              </a:rPr>
              <a:t>Data, automation, APIs and AI-enabled workflows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2423160"/>
            <a:ext cx="3154680" cy="2103120"/>
          </a:xfrm>
          <a:prstGeom prst="roundRect">
            <a:avLst/>
          </a:prstGeom>
          <a:solidFill>
            <a:srgbClr val="EE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9912" y="2706624"/>
            <a:ext cx="411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6D5BD0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2" y="3200400"/>
            <a:ext cx="26517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252A34"/>
                </a:solidFill>
                <a:latin typeface="Aptos"/>
              </a:rPr>
              <a:t>Specialize deliberately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3730752"/>
            <a:ext cx="26517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697386"/>
                </a:solidFill>
                <a:latin typeface="Aptos"/>
              </a:rPr>
              <a:t>PostgreSQL depth, Redis, Rust or Go by target role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5074920"/>
            <a:ext cx="10287000" cy="804672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5568" y="5330952"/>
            <a:ext cx="9692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252A34"/>
                </a:solidFill>
                <a:latin typeface="Aptos"/>
              </a:rPr>
              <a:t>The data does not point to one perfect technology. It points to a sequence: fundamentals → applied Python → role-specific depth.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656832"/>
            <a:ext cx="50292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80" b="1" i="0">
                <a:solidFill>
                  <a:srgbClr val="9299A8"/>
                </a:solidFill>
                <a:latin typeface="Aptos"/>
              </a:rPr>
              <a:t>DATA ANALYST CAPSTONE  •  2025 SURVEY EDITION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647688"/>
            <a:ext cx="45720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9299A8"/>
                </a:solidFill>
                <a:latin typeface="Aptos"/>
              </a:rPr>
              <a:t>19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0378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598F-DBE3-7B78-D1F9-0BA7F7DC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502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48024"/>
                </a:solidFill>
                <a:latin typeface="Aptos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256032"/>
            <a:ext cx="102412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 i="0">
                <a:solidFill>
                  <a:srgbClr val="252A34"/>
                </a:solidFill>
                <a:latin typeface="Aptos Display"/>
              </a:rPr>
              <a:t>Appendix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77824"/>
            <a:ext cx="10874959" cy="10972"/>
          </a:xfrm>
          <a:prstGeom prst="rect">
            <a:avLst/>
          </a:prstGeom>
          <a:solidFill>
            <a:srgbClr val="6D5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" y="749808"/>
            <a:ext cx="102412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697386"/>
                </a:solidFill>
                <a:latin typeface="Aptos"/>
              </a:rPr>
              <a:t>SOURCES, DEFINITIONS AND LIMITATIONS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097280"/>
            <a:ext cx="5440680" cy="5321808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6634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6D5BD0"/>
                </a:solidFill>
                <a:latin typeface="Aptos"/>
              </a:rPr>
              <a:t>Sources used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92224"/>
            <a:ext cx="201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20" b="1" i="0">
                <a:solidFill>
                  <a:srgbClr val="6D5BD0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783080"/>
            <a:ext cx="4407407" cy="4206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252A34"/>
                </a:solidFill>
                <a:latin typeface="Aptos"/>
              </a:rPr>
              <a:t>Stack Overflow Developer Survey 2025 — Technology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42032"/>
            <a:ext cx="201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20" b="1" i="0">
                <a:solidFill>
                  <a:srgbClr val="6D5BD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532888"/>
            <a:ext cx="4407407" cy="4206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252A34"/>
                </a:solidFill>
                <a:latin typeface="Aptos"/>
              </a:rPr>
              <a:t>Stack Overflow Developer Survey 2025 — Developers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91839"/>
            <a:ext cx="201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20" b="1" i="0">
                <a:solidFill>
                  <a:srgbClr val="6D5BD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282696"/>
            <a:ext cx="4407407" cy="4206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252A34"/>
                </a:solidFill>
                <a:latin typeface="Aptos"/>
              </a:rPr>
              <a:t>IBM Skills Network Jobs API lab — jobs.json (27,005 records)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41648"/>
            <a:ext cx="201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20" b="1" i="0">
                <a:solidFill>
                  <a:srgbClr val="6D5BD0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4032504"/>
            <a:ext cx="4407407" cy="4206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252A34"/>
                </a:solidFill>
                <a:latin typeface="Aptos"/>
              </a:rPr>
              <a:t>IBM Skills Network Web Scraping lab — 10-language table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097280"/>
            <a:ext cx="5166360" cy="2148840"/>
          </a:xfrm>
          <a:prstGeom prst="roundRect">
            <a:avLst/>
          </a:prstGeom>
          <a:solidFill>
            <a:srgbClr val="EE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1371600"/>
            <a:ext cx="4526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6D5BD0"/>
                </a:solidFill>
                <a:latin typeface="Aptos"/>
              </a:rPr>
              <a:t>Definitions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792224"/>
            <a:ext cx="201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20" b="1" i="0">
                <a:solidFill>
                  <a:srgbClr val="6D5BD0"/>
                </a:solidFill>
                <a:latin typeface="Apto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5432" y="1783080"/>
            <a:ext cx="4178807" cy="4206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252A34"/>
                </a:solidFill>
                <a:latin typeface="Aptos"/>
              </a:rPr>
              <a:t>Current use = extensive development work in the past year.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231135"/>
            <a:ext cx="201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20" b="1" i="0">
                <a:solidFill>
                  <a:srgbClr val="6D5BD0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432" y="2221991"/>
            <a:ext cx="4178807" cy="4206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252A34"/>
                </a:solidFill>
                <a:latin typeface="Aptos"/>
              </a:rPr>
              <a:t>Desired use = wants to work with the technology in the next year.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670047"/>
            <a:ext cx="201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20" b="1" i="0">
                <a:solidFill>
                  <a:srgbClr val="6D5BD0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5432" y="2660903"/>
            <a:ext cx="4178807" cy="4206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252A34"/>
                </a:solidFill>
                <a:latin typeface="Aptos"/>
              </a:rPr>
              <a:t>Survey percentages are response shares, not market share.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566160"/>
            <a:ext cx="5166360" cy="2852928"/>
          </a:xfrm>
          <a:prstGeom prst="roundRect">
            <a:avLst/>
          </a:prstGeom>
          <a:solidFill>
            <a:srgbClr val="FF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400" y="3840480"/>
            <a:ext cx="4526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48024"/>
                </a:solidFill>
                <a:latin typeface="Aptos"/>
              </a:rPr>
              <a:t>Limitations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261104"/>
            <a:ext cx="201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20" b="1" i="0">
                <a:solidFill>
                  <a:srgbClr val="F48024"/>
                </a:solidFill>
                <a:latin typeface="Apto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85432" y="4251960"/>
            <a:ext cx="4178807" cy="4206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252A34"/>
                </a:solidFill>
                <a:latin typeface="Aptos"/>
              </a:rPr>
              <a:t>The survey is self-reported and global; response coverage varies.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837176"/>
            <a:ext cx="201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20" b="1" i="0">
                <a:solidFill>
                  <a:srgbClr val="F48024"/>
                </a:solidFill>
                <a:latin typeface="Apto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85432" y="4828032"/>
            <a:ext cx="4178807" cy="4206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252A34"/>
                </a:solidFill>
                <a:latin typeface="Aptos"/>
              </a:rPr>
              <a:t>The job and salary data are teaching datasets, not live market estimates.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5413248"/>
            <a:ext cx="20116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20" b="1" i="0">
                <a:solidFill>
                  <a:srgbClr val="F48024"/>
                </a:solidFill>
                <a:latin typeface="Apto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85432" y="5404104"/>
            <a:ext cx="4178807" cy="4206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252A34"/>
                </a:solidFill>
                <a:latin typeface="Aptos"/>
              </a:rPr>
              <a:t>Use rankings to guide questions and learning priorities, not make career choices alone.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656832"/>
            <a:ext cx="50292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80" b="1" i="0">
                <a:solidFill>
                  <a:srgbClr val="9299A8"/>
                </a:solidFill>
                <a:latin typeface="Aptos"/>
              </a:rPr>
              <a:t>DATA ANALYST CAPSTONE  •  2025 SURVEY EDITION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647688"/>
            <a:ext cx="45720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9299A8"/>
                </a:solidFill>
                <a:latin typeface="Aptos"/>
              </a:rPr>
              <a:t>20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01586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5445547-4CD8-432E-8B58-E443FD17F88F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DA07C5-A406-4A0D-B3E6-3856C94AC7F3}">
  <ds:schemaRefs>
    <ds:schemaRef ds:uri="155be751-a274-42e8-93fb-f39d3b9bccc8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80a141d-92ca-4d3d-9308-f7e7b1d44ce8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1860</Words>
  <Application>Microsoft Office PowerPoint</Application>
  <PresentationFormat>Widescreen</PresentationFormat>
  <Paragraphs>340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Helv</vt:lpstr>
      <vt:lpstr>IBM Plex Mono</vt:lpstr>
      <vt:lpstr>IBM Plex Mono Medium</vt:lpstr>
      <vt:lpstr>IBM Plex Sans</vt:lpstr>
      <vt:lpstr>IBM Plex Sans SemiBold</vt:lpstr>
      <vt:lpstr>SLIDE_TEMPLATE_skill_network</vt:lpstr>
      <vt:lpstr>Capstone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</dc:title>
  <dc:creator>Tori Sleeper</dc:creator>
  <cp:lastModifiedBy>Pentville</cp:lastModifiedBy>
  <cp:revision>8</cp:revision>
  <dcterms:created xsi:type="dcterms:W3CDTF">2024-10-30T05:40:03Z</dcterms:created>
  <dcterms:modified xsi:type="dcterms:W3CDTF">2026-09-26T23:18:46Z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